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문장: 이번 라운드의 기여 문장은 "동일 유용성 조건에서 신원 노출량을 정량화함"임. 유용성 동등은 주장이 아니라 전제 조건임.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페이지 제목이 초안에서 5장 연속 "현재 연구 방향"으로 동일해 위치 감각이 없었음. 항목명으로 교체함.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초안 p2 의 "프라이버시는 구조에서 나옴 … 원본 복원 불가" 문장은 삭제 대상임.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세로 stride 를 2로 제한한 것이 이 설계의 핵심임. 8.73/16 = 0.55px 는 3×3 커널이 변화를 볼 수 없는 크기임.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은 정식 test 분할 자체가 없었음. 그래서 v1 의 결론을 이어 쓸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배포본 실체 확인은 StudentData.csv 의 Exam_day_is 를 58명 전원에서 읽어 수행함.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좌석 오염 발견은 이번 라운드에서 설명 가치가 가장 높은 항목임. 프레임마다 선택된 얼굴의 화면 x 를 구해 주 좌석에서 250 px 이상 벗어나면 플래그함.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유용성은 피험자 분리, 프라이버시는 피험자 공유 + 시간 분리임. 축마다 분할 규칙이 다른 이유는 각각이 재려는 것이 다르기 때문임.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우위가 두 번 줄어든 이력이 이 숫자의 신뢰성 근거임. 결과가 유리하면 베이스라인이 불리해진 것은 아닌지 먼저 의심하라는 것이 PROTOCOL 부록 8번임.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피험자 평균은 작은 피험자를 과대 가중함. U1 은 안경군 이벤트의 1.1% 인데 피험자 평균에서 5.9% 를 차지함.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논문에 "우리 표현은 신원을 담지 않는다"고 쓸 수 없음. 기여 문장은 "동일 유용성 조건에서 신원 노출량을 정량화함"임.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선형만 내려가고 MLP 는 그대로인 패턴은 PROTOCOL §11 후속 게이트가 "프라이버시 기전이 아니라 프로브 회피"라고 미리 적어둔 바로 그 패턴임.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G-1i 의 한계: 256 이벤트 × 2 에폭이므로 엄밀히는 "같은 연산 그래프에서 결정적"까지가 확인된 범위임.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"0.9886 은 너무 높지 않은가"에 대한 답의 절반임. 나머지 절반(대조군 2·3·4)은 미측정임.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U1 은 제외하지 않음. 논문에는 "학습에 포함되면 완벽히 맞히지만 처음 보는 조건에서는 무너지는, 57명 중 유일한 전이 실패 사례"로 서술함.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5번은 박사님 확인이 오면 되살아나는 항목임. 이번 라운드는 억제 없는 기준선 하나를 세운 것임.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백업 슬라이드임. 질문이 나오면 해당 근거 파일을 바로 열 수 있도록 준비할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47472"/>
            <a:ext cx="868680" cy="338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95728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IEEE Sensors 진행사항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27355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mEBAL2 57명 · 벡터 표현의 유용성과 신원 누출 정량화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74920" y="3858768"/>
            <a:ext cx="2039112" cy="32004"/>
          </a:xfrm>
          <a:prstGeom prst="rect">
            <a:avLst/>
          </a:prstGeom>
          <a:solidFill>
            <a:srgbClr val="1D52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133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유용성은 통과했고, 프라이버시는 주장이 아니라 측정 결과로만 보고함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360" y="6327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2026/08/03 랩미팅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435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9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18872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방향 전환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892040" y="12481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v1(EAR · 상태머신) 폐기, 벡터 표현 기반으로 전환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1664208"/>
            <a:ext cx="11155680" cy="7315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182422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9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188720" y="17876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파이프라인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92040" y="1828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크롭 → CNN 벡터(D=16) → 시간 판정 헤드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244852"/>
            <a:ext cx="11155680" cy="7315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240487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9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188720" y="2368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→ v2 무엇이 바뀌었나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892040" y="24094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8명 공개셋 → mEBAL2 57명, 직접 지도학습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2920" y="2825496"/>
            <a:ext cx="11155680" cy="7315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298551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9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188720" y="29489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실험 설계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892040" y="29900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57명 27,758 이벤트, 피험자 분리 5-fold × 3 seed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02920" y="3406140"/>
            <a:ext cx="11155680" cy="7315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35661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9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1188720" y="3529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① 유용성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4892040" y="35707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PR-AUC +0.0151 (δ=0.02 기준 superior)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02920" y="3986784"/>
            <a:ext cx="11155680" cy="7315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2920" y="414680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9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1188720" y="41102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② 신원 누출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892040" y="41513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재식별 0.6345 — 랜덤 인코더와 동급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02920" y="4567428"/>
            <a:ext cx="11155680" cy="7315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" y="47274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9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1188720" y="4690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검증 게이트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4892040" y="47320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−1 게이트 9/9 PASS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502920" y="5148072"/>
            <a:ext cx="11155680" cy="7315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2920" y="53080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9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700" dirty="0"/>
          </a:p>
        </p:txBody>
      </p:sp>
      <p:sp>
        <p:nvSpPr>
          <p:cNvPr id="36" name="Text 32"/>
          <p:cNvSpPr/>
          <p:nvPr/>
        </p:nvSpPr>
        <p:spPr>
          <a:xfrm>
            <a:off x="1188720" y="52715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다음 단계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4892040" y="5312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Pi5 재측정 · 대조군 2·3·4 · 억제 방향 결정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502920" y="5728716"/>
            <a:ext cx="11155680" cy="7315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02920" y="5870448"/>
            <a:ext cx="11155680" cy="438912"/>
          </a:xfrm>
          <a:prstGeom prst="roundRect">
            <a:avLst>
              <a:gd name="adj" fmla="val 12500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31520" y="58704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라운드의 성립 조건은 Phase 4 게이트(EAR 대비 비열등) 하나이며 통과함.  프라이버시는 성립 조건이 아니라 정량화 대상임.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방향 전환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방향이 바뀐 이유 — v1 재측정 결과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7840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재측정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유용성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조밀 격자로 재측정 시 Ours 0.803 ± 0.321 vs EAR 0.977 ± 0.035 → −0.174, 열세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프라이버시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 → 16차원(16배 축소)에도 선형 재식별 Ours 0.994 vs EAR 0.170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차원 축소는 프라이버시 기전이 아님. "EAR과 대등"은 임계값 격자 오류였음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502920" y="3154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연구 방향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02920" y="352044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" y="3685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77240" y="398678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"눈 크롭에서 뽑은 16차원 벡터가 EAR 만큼 깜빡임을 잡는가,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그 벡터는 신원을 얼마나 흘리는가"를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mEBAL2 57명에서 측정함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17920" y="352044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92240" y="3685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 의 위치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92240" y="398678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 은 경쟁자가 아니라 유용성 베이스라인임.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기준은 우월이 아니라 비열등(non-inferiority)임.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디코더는 배포하지 않되, 그것을 프라이버시 보장으로 쓰지 않음.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BEEEE"/>
          </a:solidFill>
          <a:ln w="12700">
            <a:solidFill>
              <a:srgbClr val="E8C9C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240" y="5285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정정 — 초안의 "원본 복원 불가 = 프라이버시 확보"는 철회된 주장임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55961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저장·전송은 벡터뿐이고 디코더는 배포하지 않음. 다만 그것이 프라이버시 보장이 아님이 이번 라운드에서 실측됨 — 57-way 재식별 0.6345 (chance 의 36배), 다중 관측 100회면 정확도 1.0000. 벡터 자체의 신원 누출량은 별도로 측정해야 하는 대상임.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README.md 정정 알림(2026-07-30) · docs/PROJECT.md §3 · results/v2/phase5_reid.json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파이프라인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170432"/>
            <a:ext cx="1755648" cy="1298448"/>
          </a:xfrm>
          <a:prstGeom prst="roundRect">
            <a:avLst>
              <a:gd name="adj" fmla="val 4225"/>
            </a:avLst>
          </a:prstGeom>
          <a:solidFill>
            <a:srgbClr val="DDE4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13350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크롭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4360" y="18288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64×160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margin 2.2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표준화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258568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386584" y="1170432"/>
            <a:ext cx="1755648" cy="1298448"/>
          </a:xfrm>
          <a:prstGeom prst="roundRect">
            <a:avLst>
              <a:gd name="adj" fmla="val 4225"/>
            </a:avLst>
          </a:prstGeom>
          <a:solidFill>
            <a:srgbClr val="DDE4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78024" y="13350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vpres CNN 인코더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78024" y="18288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비대칭 stride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12.44 MMAC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142232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270248" y="1170432"/>
            <a:ext cx="1755648" cy="1298448"/>
          </a:xfrm>
          <a:prstGeom prst="roundRect">
            <a:avLst>
              <a:gd name="adj" fmla="val 4225"/>
            </a:avLst>
          </a:prstGeom>
          <a:solidFill>
            <a:srgbClr val="DDE4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61688" y="13350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16차원 벡터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361688" y="18288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프레임당 1개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(v1 은 128D)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025896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53912" y="1170432"/>
            <a:ext cx="1755648" cy="1298448"/>
          </a:xfrm>
          <a:prstGeom prst="roundRect">
            <a:avLst>
              <a:gd name="adj" fmla="val 4225"/>
            </a:avLst>
          </a:prstGeom>
          <a:solidFill>
            <a:srgbClr val="DDE4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45352" y="13350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19프레임 링버퍼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45352" y="18288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결측 마스크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909560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37576" y="1170432"/>
            <a:ext cx="1755648" cy="1298448"/>
          </a:xfrm>
          <a:prstGeom prst="roundRect">
            <a:avLst>
              <a:gd name="adj" fmla="val 4225"/>
            </a:avLst>
          </a:prstGeom>
          <a:solidFill>
            <a:srgbClr val="DDE4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29016" y="13350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인과적 TCN + MLP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9016" y="18288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dilation 1·2·4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0.046 MMAC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9793224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921240" y="1170432"/>
            <a:ext cx="1755648" cy="1298448"/>
          </a:xfrm>
          <a:prstGeom prst="roundRect">
            <a:avLst>
              <a:gd name="adj" fmla="val 4225"/>
            </a:avLst>
          </a:prstGeom>
          <a:solidFill>
            <a:srgbClr val="102B4E"/>
          </a:solidFill>
          <a:ln w="12700">
            <a:solidFill>
              <a:srgbClr val="102B4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012680" y="13350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blink 확률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02920" y="2743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근거 — 왜 비대칭 stride 인가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108960"/>
          <a:ext cx="6035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눈꺼풀 상하 간격 (크롭 기준)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8.73 px  (세로 64 px 중)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대칭 stride-2 × 4회 적용 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0.55 px → 깜빡임 신호 소멸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채택안 vpres (세로 총 stride 2)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4.37 px 잔존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인코더 12.44 / 시간 헤드 0.046 MMAC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Shape 26"/>
          <p:cNvSpPr/>
          <p:nvPr/>
        </p:nvSpPr>
        <p:spPr>
          <a:xfrm>
            <a:off x="6812280" y="3108960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040880" y="31821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가로는 줄여도 됨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7040880" y="342900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160 px 은 두 눈을 담기 위한 폭이지 해상도가 필요한 축이 아님. 가로만 32배 축소, 세로는 2배만 축소함.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812280" y="3895344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040880" y="39684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프레임당 인코딩 1회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7040880" y="42153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프레임마다 19장을 재인코딩하면 비용이 19배가 되어 Pi 예산 초과임. 벡터 링버퍼로 해결함.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812280" y="4681728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040880" y="47548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결측은 마스크로 알림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7040880" y="50017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으로 채우면 "변화 없음"과 "모름"이 구분되지 않음. 마스크를 함께 넣어 pooling 에서 제외함.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502920" y="544068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BEEEE"/>
          </a:solidFill>
          <a:ln w="12700">
            <a:solidFill>
              <a:srgbClr val="E8C9C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77240" y="55595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정정 — 초안의 "오토인코더 → 128차원 → MLP 판정"은 v1 구조임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777240" y="58338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는 재구성 학습이 아니라 깜빡임 직접 지도학습임 · 판정 경로에 랜드마크/EAR 미사용 (EAR 은 베이스라인 계산에만 사용) · Pi5 지연은 v2 기준 미측정 (Phase 6 게이트: p99 e2e ≤ 33.3 ms @ 1280×720)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src/v2/model/encoder.py · docs/v2/PROTOCOL.md §0 · docs/PI5_BENCHMARK.md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→ v2 무엇이 바뀌었나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09728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 v1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7240" y="1536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8명 공개셋 · 128D 오토인코더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46520" y="109728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E8EFF9"/>
          </a:solidFill>
          <a:ln w="12700">
            <a:solidFill>
              <a:srgbClr val="BBD0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208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 v2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720840" y="1536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57명 mEBAL2 · 직접 지도학습 D=16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1500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4028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  <a:gridCol w="5577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Eyeblink8 8명 · 35,496 프레임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mEBAL2 57명 · 27,758 이벤트 · 532,109 크롭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오토인코더 128D (재구성 학습)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vpres CNN 16D (깜빡임 직접 지도학습)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정식 test 분할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피험자 분리 5-fold × 3 seed = 15런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사후 해석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δ=0.02 · PR-AUC 를 결과 0건 시점에 사전 고정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EAR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유용성 베이스라인 (동일 판정 헤드로 격상)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프라이버시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"숨겼다" 주장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"얼마나 남는가"를 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5477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수치를 왜 이어 쓸 수 없는가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77240" y="5742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분할 · 임계값 격자가 전부 달라 같은 표에 올릴 수 없음. PROTOCOL §13 이 이를 금지함 — "이전 라운드(8명 공개셋)의 수치를 v2 결과와 같은 표에 올리지 않는다."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docs/v2/PROTOCOL.md §0 · §13 · README.md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① 공식 문서와 실제가 달랐음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042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배포본을 직접 열어 확인함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6583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서술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180명 / 21,100 시퀀스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58명만으로 28,728 (1.36배)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"250만 프레임 이상", 180명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58명 RGB 합계가 정확히 2,513,634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랜드마크 68점 / box xywh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468점 / xyxy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안경 32.22%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subset 31.0% (직접 재라벨)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360920" y="1389888"/>
            <a:ext cx="4297680" cy="1773936"/>
          </a:xfrm>
          <a:prstGeom prst="roundRect">
            <a:avLst>
              <a:gd name="adj" fmla="val 3093"/>
            </a:avLst>
          </a:prstGeom>
          <a:solidFill>
            <a:srgbClr val="E8EFF9"/>
          </a:solidFill>
          <a:ln w="12700">
            <a:solidFill>
              <a:srgbClr val="BBD0E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63524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배포본의 실체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7635240" y="1883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mEBAL1  38명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635240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2020-02 수집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9555480" y="1920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875520" y="1911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mEBAL2 신규  20명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875520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2022-05/10 수집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635240" y="2542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배치는 실제로 다름 — 항상 분리 보고할 것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56432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 (38명)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 (20명)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얼굴 비율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11.2%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EAR AUC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7360920" y="3456432"/>
            <a:ext cx="4297680" cy="1042416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635240" y="36027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표기 규칙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635240" y="387705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 58-subject subset of mEBAL2" 로 고정함.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"180명 대규모 검증"은 사실이 아님.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배치가 왜 어려운가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02920" y="5102352"/>
            <a:ext cx="11155680" cy="1024128"/>
          </a:xfrm>
          <a:prstGeom prst="roundRect">
            <a:avLst>
              <a:gd name="adj" fmla="val 5357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7240" y="526694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배치는 여러 학생이 한 방에서 동시에 녹화됨 — 19개 시험일에 58명, 하루 최대 6명.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다중 얼굴 프레임이 11.2% 로 2020 배치(0.1%)의 100배이며, 이것이 다음 장의 좌석 오염으로 이어짐.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results/v2/facts_mebal2_events.json · merge_report.json · glasses_label_revision.json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② 좌석 오염을 찾아 제거함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042416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BEEEE"/>
          </a:solidFill>
          <a:ln w="12700">
            <a:solidFill>
              <a:srgbClr val="E8C9C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11704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선택 규칙("메시가 있는 얼굴 중 박스 면적 최대")이 주 피험자 미검출 프레임에서 옆자리 사람을 선택함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 영상에서 두 얼굴이 화면 좌우 700 px 간격으로 같은 높이에 착석한 것을 확인함. U18 은 그런 프레임의 88% 가 단일 얼굴이라 "프레임 간 급변" 탐지로는 잡히지 않았음.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29968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좌석 이탈 프레임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5,449 / 532,109  (1.02%)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이탈률 중앙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  0.04%   /   2022  1.41%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U18  28.3%   (2위 U51  6.0%)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U18 전체 제외 + 나머지 좌석 오염 이벤트 단위 제외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178040" y="2029968"/>
            <a:ext cx="4480560" cy="1737360"/>
          </a:xfrm>
          <a:prstGeom prst="roundRect">
            <a:avLst>
              <a:gd name="adj" fmla="val 3158"/>
            </a:avLst>
          </a:prstGeom>
          <a:solidFill>
            <a:srgbClr val="E8EFF9"/>
          </a:solidFill>
          <a:ln w="12700">
            <a:solidFill>
              <a:srgbClr val="BBD0E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452360" y="21762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분석 코호트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45236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58명  28,728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326880" y="2450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784080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57명  27,758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452360" y="288950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내역 — 결측 349 · 좌석 392 · U18 346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균형 — blink 13,820 / unblink 13,938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02920" y="39684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 만 통째로 뺀 이유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02920" y="4297680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7240" y="442569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28% 라는 크기가 아니라 좌석 탐지가 완전하지 않기 때문임.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tol 안에 있으면서 다른 사람인 프레임이 남을 수 있고,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1/3이 오염된 사용자에서는 그 잔여 위험이 큼.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5% 이하라 이벤트 단위 제거로 충분함.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355080" y="39684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 구성 (이벤트 수 + 배치 이중 층화)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29768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86384"/>
                <a:gridCol w="786384"/>
                <a:gridCol w="786384"/>
                <a:gridCol w="786384"/>
                <a:gridCol w="78638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fold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이벤트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6,140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5,470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5,383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5,398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5,367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 비중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35.5%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27.7%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25.7%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 인원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6"/>
          <p:cNvSpPr/>
          <p:nvPr/>
        </p:nvSpPr>
        <p:spPr>
          <a:xfrm>
            <a:off x="502920" y="548640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CF6E8"/>
          </a:solidFill>
          <a:ln w="12700">
            <a:solidFill>
              <a:srgbClr val="E8D9B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7240" y="561441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근본 원인은 미수정임 — 얼굴 선택에 시간적 일관성이 없음 (직전 프레임 위치를 참조하지 않음). 현재는 사후 플래그로 차단 중이며 다음 라운드 항목임.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results/v2/apply_flags_report.json · docs/v2/PROTOCOL.md §3-ter · §4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 — 무엇을 어떻게 쟀는가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042416"/>
            <a:ext cx="267919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2920" y="1042416"/>
            <a:ext cx="64008" cy="1133856"/>
          </a:xfrm>
          <a:prstGeom prst="rect">
            <a:avLst/>
          </a:prstGeom>
          <a:solidFill>
            <a:srgbClr val="1D52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2376" y="1188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배포본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22376" y="14264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58명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722376" y="1865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mEBAL1 38 + 신규 mEBAL2 20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300984" y="1042416"/>
            <a:ext cx="267919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00984" y="1042416"/>
            <a:ext cx="64008" cy="1133856"/>
          </a:xfrm>
          <a:prstGeom prst="rect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20440" y="1188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분석 코호트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20440" y="14264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57명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520440" y="1865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 제외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99048" y="1042416"/>
            <a:ext cx="267919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99048" y="1042416"/>
            <a:ext cx="64008" cy="1133856"/>
          </a:xfrm>
          <a:prstGeom prst="rect">
            <a:avLst/>
          </a:prstGeom>
          <a:solidFill>
            <a:srgbClr val="B07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18504" y="1188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이벤트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318504" y="14264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27,758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318504" y="1865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28,728 중 결측·좌석·U18 제외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897112" y="1042416"/>
            <a:ext cx="267919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897112" y="1042416"/>
            <a:ext cx="64008" cy="1133856"/>
          </a:xfrm>
          <a:prstGeom prst="rect">
            <a:avLst/>
          </a:prstGeom>
          <a:solidFill>
            <a:srgbClr val="102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16568" y="1188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규모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9116568" y="14264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532,109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9116568" y="1865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64×160 눈 크롭 프레임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02920" y="245059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4360" y="26151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mEBAL2 이벤트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94360" y="29260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19프레임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blink / unblink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2587752" y="2889504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2761488" y="245059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852928" y="26151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품질·오염 필터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852928" y="29260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≤5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이탈·U18 제외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846320" y="2889504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020056" y="245059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111496" y="26151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크롭·정규화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111496" y="29260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64×160 · margin 2.2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standardize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7104888" y="2889504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278624" y="245059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E8EFF9"/>
          </a:solidFill>
          <a:ln w="12700">
            <a:solidFill>
              <a:srgbClr val="7FA6D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370064" y="26151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vpres CNN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7370064" y="29260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프레임당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16차원 벡터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9363456" y="2889504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9537192" y="245059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628632" y="26151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판정 헤드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9628632" y="29260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TCN + MLP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blink 확률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502920" y="3858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설계 — 두 축을 다른 규칙으로 쟀음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502920" y="420624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77240" y="4370832"/>
            <a:ext cx="1051560" cy="274320"/>
          </a:xfrm>
          <a:prstGeom prst="roundRect">
            <a:avLst>
              <a:gd name="adj" fmla="val 133333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777240" y="4370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유용성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777240" y="4754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피험자 분리 5-fold × 3 seed = 15 독립 실행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 지표 PR-AUC, 마진 δ = 0.02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짝지은 피험자 클러스터 부트스트랩 95% CI 하한 &gt; −δ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EAR-head 를 동일 판정 헤드로 격상해 비교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777240" y="57424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2026-08-01, 우리 결과 0건 시점에 사전 고정함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6217920" y="420624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492240" y="4370832"/>
            <a:ext cx="1234440" cy="274320"/>
          </a:xfrm>
          <a:prstGeom prst="roundRect">
            <a:avLst>
              <a:gd name="adj" fmla="val 133333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492240" y="4370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 누출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6492240" y="4754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57-way 균형 표집 11,400장, chance 0.0175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시간블록 분할(세션 앞 70% / 뒤 30%)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선형·MLP 프로브를 반드시 병기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랜덤 인코더 · 원본 픽셀 · 광학 3차원과 나란히 비교</a:t>
            </a:r>
            <a:endParaRPr lang="en-US" sz="1100" dirty="0"/>
          </a:p>
        </p:txBody>
      </p:sp>
      <p:sp>
        <p:nvSpPr>
          <p:cNvPr id="56" name="Text 52"/>
          <p:cNvSpPr/>
          <p:nvPr/>
        </p:nvSpPr>
        <p:spPr>
          <a:xfrm>
            <a:off x="6492240" y="57424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 조건이 아니라 정량화 대상임</a:t>
            </a:r>
            <a:endParaRPr lang="en-US" sz="1050" dirty="0"/>
          </a:p>
        </p:txBody>
      </p:sp>
      <p:sp>
        <p:nvSpPr>
          <p:cNvPr id="57" name="Text 53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docs/v2/PROTOCOL.md §3 · §4 · §9-1 · results/v2/gate_minus1.json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① 유용성 — 비열등 판정 통과 (사실은 우월)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0424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× 3 seed = 15개 독립 실행 · 266분 · deterministic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14813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ours  |  vpres D=16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2920" y="1773936"/>
            <a:ext cx="5120640" cy="219456"/>
          </a:xfrm>
          <a:prstGeom prst="roundRect">
            <a:avLst>
              <a:gd name="adj" fmla="val 20833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2920" y="1773936"/>
            <a:ext cx="4435754" cy="219456"/>
          </a:xfrm>
          <a:prstGeom prst="roundRect">
            <a:avLst>
              <a:gd name="adj" fmla="val 208333"/>
            </a:avLst>
          </a:prstGeom>
          <a:solidFill>
            <a:srgbClr val="1D52A5"/>
          </a:solidFill>
          <a:ln w="12700">
            <a:solidFill>
              <a:srgbClr val="1D52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072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0.9886 ± 0.0038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22677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EAR-head  |  동일 시간 판정 헤드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2560320"/>
            <a:ext cx="5120640" cy="219456"/>
          </a:xfrm>
          <a:prstGeom prst="roundRect">
            <a:avLst>
              <a:gd name="adj" fmla="val 20833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" y="2560320"/>
            <a:ext cx="3917290" cy="219456"/>
          </a:xfrm>
          <a:prstGeom prst="roundRect">
            <a:avLst>
              <a:gd name="adj" fmla="val 208333"/>
            </a:avLst>
          </a:prstGeom>
          <a:solidFill>
            <a:srgbClr val="5B8AD0"/>
          </a:solidFill>
          <a:ln w="12700">
            <a:solidFill>
              <a:srgbClr val="5B8AD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2523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0.9724 ± 0.0096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30540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 rule  |  규칙 기반 drop_ratio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3346704"/>
            <a:ext cx="5120640" cy="219456"/>
          </a:xfrm>
          <a:prstGeom prst="roundRect">
            <a:avLst>
              <a:gd name="adj" fmla="val 20833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2920" y="3346704"/>
            <a:ext cx="1379372" cy="219456"/>
          </a:xfrm>
          <a:prstGeom prst="roundRect">
            <a:avLst>
              <a:gd name="adj" fmla="val 208333"/>
            </a:avLst>
          </a:prstGeom>
          <a:solidFill>
            <a:srgbClr val="A9C2E4"/>
          </a:solidFill>
          <a:ln w="12700">
            <a:solidFill>
              <a:srgbClr val="A9C2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6072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0.8931 ± 0.0136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8221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막대는 0.85 ~ 1.00 구간을 확대한 것임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726680" y="1389888"/>
            <a:ext cx="3931920" cy="2395728"/>
          </a:xfrm>
          <a:prstGeom prst="roundRect">
            <a:avLst>
              <a:gd name="adj" fmla="val 2290"/>
            </a:avLst>
          </a:prstGeom>
          <a:solidFill>
            <a:srgbClr val="E8EFF9"/>
          </a:solidFill>
          <a:ln w="12700">
            <a:solidFill>
              <a:srgbClr val="BBD0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955280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비교:  ours − EAR-head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955280" y="19568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+0.0151</a:t>
            </a:r>
            <a:endParaRPr lang="en-US" sz="3800" dirty="0"/>
          </a:p>
        </p:txBody>
      </p:sp>
      <p:sp>
        <p:nvSpPr>
          <p:cNvPr id="24" name="Text 20"/>
          <p:cNvSpPr/>
          <p:nvPr/>
        </p:nvSpPr>
        <p:spPr>
          <a:xfrm>
            <a:off x="7955280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 CI  [+0.0106, +0.0203]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955280" y="2852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짝지은 피험자 클러스터 부트스트랩 · n=2,000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915400" y="3200400"/>
            <a:ext cx="1554480" cy="310896"/>
          </a:xfrm>
          <a:prstGeom prst="roundRect">
            <a:avLst>
              <a:gd name="adj" fmla="val 117647"/>
            </a:avLst>
          </a:prstGeom>
          <a:solidFill>
            <a:srgbClr val="DCEFE4"/>
          </a:solidFill>
          <a:ln w="12700">
            <a:solidFill>
              <a:srgbClr val="DCEFE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915400" y="32004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= 0.02 : superior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029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숫자를 믿어도 되는 이유 — 베이스라인부터 의심했음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02920" y="4553712"/>
            <a:ext cx="11155680" cy="1572768"/>
          </a:xfrm>
          <a:prstGeom prst="roundRect">
            <a:avLst>
              <a:gd name="adj" fmla="val 3488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77240" y="4700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라운드에서 우리 우위는 두 번 축소됨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77240" y="49926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9B4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+0.1058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965960" y="5010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2331720" y="49926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C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+0.0323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3520440" y="5010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3886200" y="49926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+0.0151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777240" y="54132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규칙 기반 EAR 을 동일 판정 헤드로 교체 (기존 대조군이 프로토콜 요구보다 약했음)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고정 에폭을 동일 중단 규칙으로 교체 (베이스라인만 학습이 덜 끝난 상태였음)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035040" y="4700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약화 점검 통과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035040" y="4992624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EAR rule 이 사전 실측(0.8825)보다 오히려 높음 (0.8931)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15런 전부 converged, max_epochs 80 도달 0건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val 낙관은 ours +0.0021 / EAR-head +0.0028 로 거의 동일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fold 내 시드 std 최대 0.0050 &lt; 조건 차이 0.0162 → "미측정" 아님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results/v2/train_encoder.json · docs/v2/PROTOCOL.md §0 · §9-1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유용성 — 이득이 소수에만 몰린 것은 아님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042416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CF6E8"/>
          </a:solidFill>
          <a:ln w="12700">
            <a:solidFill>
              <a:srgbClr val="E8D9B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11704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PR-AUC 이득만 보면 안 됨 — ours 가 0.98 대 천장이면 이득 상한이 (1 − baseline) 으로 눌려 "약한 사용자에만 이득"처럼 보임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292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척도 없는 지표 — 오류비 (1−ours) / (1−EAR-head)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49424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오류비 중앙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1 인 인원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57명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0.385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 / 57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EAR-head 하위 25% (15명)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 / 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EAR-head 상위 75% (42명)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0.355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 / 42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812280" y="2249424"/>
            <a:ext cx="4846320" cy="1389888"/>
          </a:xfrm>
          <a:prstGeom prst="roundRect">
            <a:avLst>
              <a:gd name="adj" fmla="val 3947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086600" y="2395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086600" y="267004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이득은 "랜드마크가 망가진 소수"에만 있는 것이 아님 —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오류 감소가 전 구간에 존재함.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다만 절대 PR-AUC 로는 강한-EAR 구간에서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크기가 의미 있다고 말할 수 없음.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02920" y="3858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서브그룹 — 이벤트 가중을 주 숫자로, 피험자 평균을 병기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0624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2011680"/>
                <a:gridCol w="2011680"/>
                <a:gridCol w="42976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피험자 평균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가중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+0.0164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 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안경 유무로 이득 동일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 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+0.0293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+0.0084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 제외 시 +0.0120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미착용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+0.0208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02920" y="6035040"/>
            <a:ext cx="11155680" cy="27432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12700">
            <a:solidFill>
              <a:srgbClr val="E8C9C9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그룹 결론을 끌고 감 — 안경군 이득은 U1 을 빼면 +0.0120, U42 를 빼면 부호가 뒤집힘. 어느 방향으로도 확정 불가임.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results/v2/posthoc_subgroups.json · docs/v2/PROTOCOL.md §0 · 부록 11 · 13 ·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② 학습된 16차원 벡터는 신원을 억제하지 못했음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0424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57-way 시간 블록 MLP · 균형 표집 11,400장 · chance = 0.0175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14447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픽셀  (천장)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520440" y="14447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10240D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206240" y="1463040"/>
            <a:ext cx="3108960" cy="201168"/>
          </a:xfrm>
          <a:prstGeom prst="roundRect">
            <a:avLst>
              <a:gd name="adj" fmla="val 22727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06240" y="1463040"/>
            <a:ext cx="2822936" cy="201168"/>
          </a:xfrm>
          <a:prstGeom prst="roundRect">
            <a:avLst>
              <a:gd name="adj" fmla="val 227273"/>
            </a:avLst>
          </a:prstGeom>
          <a:solidFill>
            <a:srgbClr val="102B4E"/>
          </a:solidFill>
          <a:ln w="12700">
            <a:solidFill>
              <a:srgbClr val="102B4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06640" y="14356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0.9080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2920" y="18562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PCA-32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20440" y="18562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206240" y="1874520"/>
            <a:ext cx="3108960" cy="201168"/>
          </a:xfrm>
          <a:prstGeom prst="roundRect">
            <a:avLst>
              <a:gd name="adj" fmla="val 22727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06240" y="1874520"/>
            <a:ext cx="2695157" cy="201168"/>
          </a:xfrm>
          <a:prstGeom prst="roundRect">
            <a:avLst>
              <a:gd name="adj" fmla="val 227273"/>
            </a:avLst>
          </a:prstGeom>
          <a:solidFill>
            <a:srgbClr val="1D52A5"/>
          </a:solidFill>
          <a:ln w="12700">
            <a:solidFill>
              <a:srgbClr val="1D52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06640" y="18470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0.8669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02920" y="22677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ours  |  vpres D=16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20440" y="226771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206240" y="2286000"/>
            <a:ext cx="3108960" cy="201168"/>
          </a:xfrm>
          <a:prstGeom prst="roundRect">
            <a:avLst>
              <a:gd name="adj" fmla="val 22727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06240" y="2286000"/>
            <a:ext cx="1972635" cy="201168"/>
          </a:xfrm>
          <a:prstGeom prst="roundRect">
            <a:avLst>
              <a:gd name="adj" fmla="val 227273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06640" y="22585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0.6345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02920" y="26791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초기화 인코더 (학습 없음)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520440" y="26791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16D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206240" y="2697480"/>
            <a:ext cx="3108960" cy="201168"/>
          </a:xfrm>
          <a:prstGeom prst="roundRect">
            <a:avLst>
              <a:gd name="adj" fmla="val 22727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06240" y="2697480"/>
            <a:ext cx="1946520" cy="201168"/>
          </a:xfrm>
          <a:prstGeom prst="roundRect">
            <a:avLst>
              <a:gd name="adj" fmla="val 227273"/>
            </a:avLst>
          </a:prstGeom>
          <a:solidFill>
            <a:srgbClr val="9BB8E0"/>
          </a:solidFill>
          <a:ln w="12700">
            <a:solidFill>
              <a:srgbClr val="9BB8E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406640" y="26700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0.6261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30906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광학 3차원  (바닥)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520440" y="30906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206240" y="3108960"/>
            <a:ext cx="3108960" cy="201168"/>
          </a:xfrm>
          <a:prstGeom prst="roundRect">
            <a:avLst>
              <a:gd name="adj" fmla="val 22727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206240" y="3108960"/>
            <a:ext cx="256489" cy="201168"/>
          </a:xfrm>
          <a:prstGeom prst="roundRect">
            <a:avLst>
              <a:gd name="adj" fmla="val 22727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406640" y="30815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0.0825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502920" y="35021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 스칼라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520440" y="35021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1D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206240" y="3520440"/>
            <a:ext cx="3108960" cy="201168"/>
          </a:xfrm>
          <a:prstGeom prst="roundRect">
            <a:avLst>
              <a:gd name="adj" fmla="val 22727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206240" y="3520440"/>
            <a:ext cx="170371" cy="201168"/>
          </a:xfrm>
          <a:prstGeom prst="roundRect">
            <a:avLst>
              <a:gd name="adj" fmla="val 268356"/>
            </a:avLst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06640" y="34930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0.0548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8458200" y="1389888"/>
            <a:ext cx="3200400" cy="2286000"/>
          </a:xfrm>
          <a:prstGeom prst="roundRect">
            <a:avLst>
              <a:gd name="adj" fmla="val 2400"/>
            </a:avLst>
          </a:prstGeom>
          <a:solidFill>
            <a:srgbClr val="E8EFF9"/>
          </a:solidFill>
          <a:ln w="12700">
            <a:solidFill>
              <a:srgbClr val="BBD0E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8680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해석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8686800" y="1901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전 랜덤 인코더와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같은 누출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8686800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0.6345  vs  0.6261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8686800" y="27614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+0.008 = 모델 간 std(0.0288)의 1/3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8823960" y="3127248"/>
            <a:ext cx="2468880" cy="310896"/>
          </a:xfrm>
          <a:prstGeom prst="roundRect">
            <a:avLst>
              <a:gd name="adj" fmla="val 117647"/>
            </a:avLst>
          </a:prstGeom>
          <a:solidFill>
            <a:srgbClr val="F6E0E0"/>
          </a:solidFill>
          <a:ln w="12700">
            <a:solidFill>
              <a:srgbClr val="F6E0E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823960" y="31272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"프라이버시 개선" 주장 불가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5029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 결론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502920" y="4370832"/>
            <a:ext cx="7772400" cy="530352"/>
          </a:xfrm>
          <a:prstGeom prst="roundRect">
            <a:avLst>
              <a:gd name="adj" fmla="val 10345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85800" y="4370832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1051560" y="443484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원인은 목적함수가 아니라 눈 크롭 입력 자체임</a:t>
            </a:r>
            <a:endParaRPr lang="en-US" sz="1150" dirty="0"/>
          </a:p>
        </p:txBody>
      </p:sp>
      <p:sp>
        <p:nvSpPr>
          <p:cNvPr id="49" name="Text 45"/>
          <p:cNvSpPr/>
          <p:nvPr/>
        </p:nvSpPr>
        <p:spPr>
          <a:xfrm>
            <a:off x="1051560" y="4654296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학습을 전혀 하지 않은 랜덤 인코더가 우리와 같은 수준으로 누출함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502920" y="4974336"/>
            <a:ext cx="7772400" cy="530352"/>
          </a:xfrm>
          <a:prstGeom prst="roundRect">
            <a:avLst>
              <a:gd name="adj" fmla="val 10345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85800" y="4974336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1051560" y="503834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 축소는 해법이 아님</a:t>
            </a:r>
            <a:endParaRPr lang="en-US" sz="1150" dirty="0"/>
          </a:p>
        </p:txBody>
      </p:sp>
      <p:sp>
        <p:nvSpPr>
          <p:cNvPr id="53" name="Text 49"/>
          <p:cNvSpPr/>
          <p:nvPr/>
        </p:nvSpPr>
        <p:spPr>
          <a:xfrm>
            <a:off x="1051560" y="5257800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10,240 → 16 으로 640배 줄여도 0.63 임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502920" y="5577840"/>
            <a:ext cx="7772400" cy="530352"/>
          </a:xfrm>
          <a:prstGeom prst="roundRect">
            <a:avLst>
              <a:gd name="adj" fmla="val 10345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85800" y="557784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1051560" y="564184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 때문이 아님</a:t>
            </a:r>
            <a:endParaRPr lang="en-US" sz="1150" dirty="0"/>
          </a:p>
        </p:txBody>
      </p:sp>
      <p:sp>
        <p:nvSpPr>
          <p:cNvPr id="57" name="Text 53"/>
          <p:cNvSpPr/>
          <p:nvPr/>
        </p:nvSpPr>
        <p:spPr>
          <a:xfrm>
            <a:off x="1051560" y="586130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광학 3차원 바닥이 0.0825 이므로 나머지는 구조·질감임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8458200" y="4370832"/>
            <a:ext cx="32004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8686800" y="4517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감각</a:t>
            </a:r>
            <a:endParaRPr lang="en-US" sz="1150" dirty="0"/>
          </a:p>
        </p:txBody>
      </p:sp>
      <p:sp>
        <p:nvSpPr>
          <p:cNvPr id="60" name="Text 56"/>
          <p:cNvSpPr/>
          <p:nvPr/>
        </p:nvSpPr>
        <p:spPr>
          <a:xfrm>
            <a:off x="8686800" y="4882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chance 의</a:t>
            </a:r>
            <a:endParaRPr lang="en-US" sz="1100" dirty="0"/>
          </a:p>
        </p:txBody>
      </p:sp>
      <p:sp>
        <p:nvSpPr>
          <p:cNvPr id="61" name="Text 57"/>
          <p:cNvSpPr/>
          <p:nvPr/>
        </p:nvSpPr>
        <p:spPr>
          <a:xfrm>
            <a:off x="10241280" y="4828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36배</a:t>
            </a:r>
            <a:endParaRPr lang="en-US" sz="1700" dirty="0"/>
          </a:p>
        </p:txBody>
      </p:sp>
      <p:sp>
        <p:nvSpPr>
          <p:cNvPr id="62" name="Text 58"/>
          <p:cNvSpPr/>
          <p:nvPr/>
        </p:nvSpPr>
        <p:spPr>
          <a:xfrm>
            <a:off x="8686800" y="5285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천장의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10241280" y="5230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endParaRPr lang="en-US" sz="1700" dirty="0"/>
          </a:p>
        </p:txBody>
      </p:sp>
      <p:sp>
        <p:nvSpPr>
          <p:cNvPr id="64" name="Text 60"/>
          <p:cNvSpPr/>
          <p:nvPr/>
        </p:nvSpPr>
        <p:spPr>
          <a:xfrm>
            <a:off x="8686800" y="5687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광학 바닥의</a:t>
            </a:r>
            <a:endParaRPr lang="en-US" sz="1100" dirty="0"/>
          </a:p>
        </p:txBody>
      </p:sp>
      <p:sp>
        <p:nvSpPr>
          <p:cNvPr id="65" name="Text 61"/>
          <p:cNvSpPr/>
          <p:nvPr/>
        </p:nvSpPr>
        <p:spPr>
          <a:xfrm>
            <a:off x="10241280" y="5632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7.7배</a:t>
            </a:r>
            <a:endParaRPr lang="en-US" sz="1700" dirty="0"/>
          </a:p>
        </p:txBody>
      </p:sp>
      <p:sp>
        <p:nvSpPr>
          <p:cNvPr id="66" name="Text 62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results/v2/phase5_reid.json · docs/v2/PROTOCOL.md §0 Phase 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 누출 — 다중 관측이면 완전히 식별됨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042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공격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389888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15544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1883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0.9139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02920" y="23225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사람에게서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모은 벡터 수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304288" y="1389888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304288" y="15544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10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304288" y="1883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0.9960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304288" y="23225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사람에게서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모은 벡터 수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105656" y="1389888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102B4E"/>
          </a:solidFill>
          <a:ln w="12700">
            <a:solidFill>
              <a:srgbClr val="102B4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05656" y="15544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100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105656" y="1883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1.0000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105656" y="23225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9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사람에게서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9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모은 벡터 수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989320" y="1389888"/>
            <a:ext cx="5669280" cy="1371600"/>
          </a:xfrm>
          <a:prstGeom prst="roundRect">
            <a:avLst>
              <a:gd name="adj" fmla="val 4000"/>
            </a:avLst>
          </a:prstGeom>
          <a:solidFill>
            <a:srgbClr val="FCF6E8"/>
          </a:solidFill>
          <a:ln w="12700">
            <a:solidFill>
              <a:srgbClr val="E8D9B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63640" y="15179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단서 조항 — 질문 대비 필수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263640" y="1792224"/>
            <a:ext cx="5212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코호트가 다름: 피험자당 2,000장 이상인 52명, chance 0.0192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프로브 학습 표본이 104,000 으로 9배 많아 N=1 값을 앞 장 표와 직접 비교 불가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집계는 시간 구조를 깨므로 무작위 분할 — 공격자에게 유리한 조건임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15개 모델 중 누출이 가장 큰 것을 선택한 상한 보고임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02920" y="2999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프로브만 보면 안 되는 이유 — 두 번 값을 했음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46704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광학 교란 (Phase 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0.0767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0.2018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ours 재식별 (Phase 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0.4783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0.6345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랜덤 인코더 (Phase 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0.6261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6812280" y="3346704"/>
            <a:ext cx="4846320" cy="1316736"/>
          </a:xfrm>
          <a:prstGeom prst="roundRect">
            <a:avLst>
              <a:gd name="adj" fmla="val 4167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086600" y="34930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프라이버시 기전이 아님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7086600" y="376732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ours 는 랜덤 인코더 대비 선형만 하락(0.5017 → 0.4783)하고 MLP 는 그대로임.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이는 프로브 회피 패턴이며, 억제를 수행하지도 않았으므로 우연임.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02920" y="4901184"/>
            <a:ext cx="11155680" cy="1225296"/>
          </a:xfrm>
          <a:prstGeom prst="roundRect">
            <a:avLst>
              <a:gd name="adj" fmla="val 4478"/>
            </a:avLst>
          </a:prstGeom>
          <a:solidFill>
            <a:srgbClr val="E8EFF9"/>
          </a:solidFill>
          <a:ln w="12700">
            <a:solidFill>
              <a:srgbClr val="BBD0E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77240" y="5047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논문에서 쓸 수 있는 문장 / 쓸 수 없는 문장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77240" y="5394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"우리 표현은 신원을 담지 않는다"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777240" y="57058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"동일 유용성 조건에서 신원 노출량을 정량화했다"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949440" y="5394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값은 57-way 0.6345 (chance 의 36배),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관측 100회면 1.0000 임.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results/v2/phase5_reid.json · phase0_probes.json · docs/v2/PROTOCOL.md §8-ter · §11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— 게이트가 실제로 사고를 잡았음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042416"/>
            <a:ext cx="2679192" cy="1225296"/>
          </a:xfrm>
          <a:prstGeom prst="roundRect">
            <a:avLst>
              <a:gd name="adj" fmla="val 4478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118872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2648" y="1499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 false-alarm 영역을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40,001개 후보로 탐색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195681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00984" y="1042416"/>
            <a:ext cx="2679192" cy="1225296"/>
          </a:xfrm>
          <a:prstGeom prst="roundRect">
            <a:avLst>
              <a:gd name="adj" fmla="val 4478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00984" y="118872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10712" y="1499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수 + 수집 배치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층화 · 피험자 분리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00984" y="195681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9048" y="1042416"/>
            <a:ext cx="2679192" cy="1225296"/>
          </a:xfrm>
          <a:prstGeom prst="roundRect">
            <a:avLst>
              <a:gd name="adj" fmla="val 4478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99048" y="118872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08776" y="1499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에서 선택하고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에서만 보고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099048" y="195681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897112" y="1042416"/>
            <a:ext cx="2679192" cy="1225296"/>
          </a:xfrm>
          <a:prstGeom prst="roundRect">
            <a:avLst>
              <a:gd name="adj" fmla="val 4478"/>
            </a:avLst>
          </a:prstGeom>
          <a:solidFill>
            <a:srgbClr val="E8EFF9"/>
          </a:solidFill>
          <a:ln w="12700">
            <a:solidFill>
              <a:srgbClr val="7FA6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897112" y="118872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결정성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006840" y="1499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인코더까지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시드 bit-identical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897112" y="195681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02920" y="2395728"/>
            <a:ext cx="11155680" cy="420624"/>
          </a:xfrm>
          <a:prstGeom prst="roundRect">
            <a:avLst>
              <a:gd name="adj" fmla="val 13043"/>
            </a:avLst>
          </a:prstGeom>
          <a:solidFill>
            <a:srgbClr val="102B4E"/>
          </a:solidFill>
          <a:ln w="12700">
            <a:solidFill>
              <a:srgbClr val="102B4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2395728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−1 gate  9 / 9  PASS      |      GPU · seed · 데이터를 포함한 실제 인코더 결정성까지 확인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0292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게이트가 잡아낸 것 중 셋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64992"/>
          <a:ext cx="74066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806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잡아낸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격자 해상도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 채택했던 logit 분위수 격자가 저-FA 구간의 23%만 짚음. 낮은 false-alarm 을 결정하는 음성 분포의 위쪽 꼬리가 한가운데 있었기 때문임. 유일값 전체 격자(40,001점)로 교체해 100% 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chance 불균형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1/58 만 쓰면 성능을 4.3배 과대평가함 (다수 클래스만 찍어도 0.0734). 균등·다수 병기를 강제함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결정성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(신규 G-1i)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게이트는 합성 MLP 만 돌려 Conv2d 역전파를 지나가지 않음. 실제 인코더로 재작성 → 손실·가중치 비트 동일 PASS. 이제 ± 를 인용 가능함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2"/>
          <p:cNvSpPr/>
          <p:nvPr/>
        </p:nvSpPr>
        <p:spPr>
          <a:xfrm>
            <a:off x="81838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비교 (음성 10,000개 기준)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3364992"/>
          <a:ext cx="3474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exhaustive (채택)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분위수 logit 257 · 클래스별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분위수 logit 257 · 섞인 분포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분위수 선형 97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Shape 23"/>
          <p:cNvSpPr/>
          <p:nvPr/>
        </p:nvSpPr>
        <p:spPr>
          <a:xfrm>
            <a:off x="8183880" y="4956048"/>
            <a:ext cx="3474720" cy="1170432"/>
          </a:xfrm>
          <a:prstGeom prst="roundRect">
            <a:avLst>
              <a:gd name="adj" fmla="val 4688"/>
            </a:avLst>
          </a:prstGeom>
          <a:solidFill>
            <a:srgbClr val="FCF6E8"/>
          </a:solidFill>
          <a:ln w="12700">
            <a:solidFill>
              <a:srgbClr val="E8D9B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412480" y="5065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기록 (2026-08-03)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412480" y="533095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게이트가 검사 대상을 두 번 덮어씀 (얼린 fold 1회, CUDA 실행 기록 1회). 교훈: 게이트가 검사 대상을 쓰면 그것은 게이트가 아님. 양쪽 조치 완료.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02920" y="5870448"/>
            <a:ext cx="74066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94360" y="58704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학습 원점수 보존과 깨끗한 커밋 상태는 다음 전체 재실행에서 더 강하게 봉인해야 함.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results/v2/gate_minus1.json · docs/v2/PROTOCOL.md §1 · §5 · §11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교락 검사 — "세션 시각으로 갈랐을 뿐 아닌가"에 대한 대비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042416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E8EFF9"/>
          </a:solidFill>
          <a:ln w="12700">
            <a:solidFill>
              <a:srgbClr val="BBD0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104241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세션 시각 교락으로 우리 우위를 설명할 수 없음  (대조군 8)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 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t_rel 단조 PR-AUC (5-fold)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0.5142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유병률 0.4978 — 사실상 무정보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t_rel MLP 프로브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0.5282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비단조 시간 구조가 실제로 있으나 유병률 대비 +0.030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EAR + t_rel (MLP)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−0.0032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0.8931 → 0.8899. 강한 특징에 t_rel 을 더해도 개선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Spearman(|Δ|, 우리 이득)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[−0.176, +0.361] — 0 을 포함함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|Δ| 상위 / 하위 절반 이득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+0.0087 / +0.0135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오히려 반대 방향임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S2 (|Δ|&gt;0.2 인 3명 제외)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−0.0007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이득 +0.0111 → +0.0104. 이동이 사실상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02920" y="466344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" y="480974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얻은 교훈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77240" y="510235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MLP 가 단조보다 더 잡음 (0.5282 vs 0.5142).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시간 구조가 실제로 존재하며,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선형만 봤다면 놓쳤을 것임.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F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신원 누출에서 얻은 교훈과 같음.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217920" y="466344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CF6E8"/>
          </a:solidFill>
          <a:ln w="12700">
            <a:solidFill>
              <a:srgbClr val="E8D9B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92240" y="480974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이 검사의 한계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92240" y="510235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검사는 EAR 위에서만 측정함.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표현이 시간을 쓰는가"의 직접 검사는 아님.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encoder.pt / head.pt 15세트로 test 점수를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복원해 우리 오차와 t_rel 의 상관을 재는 것이 다음 항목임.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results/v2/control8_trel.json · docs/v2/PROTOCOL.md §0 대조군 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정직하게 남겨두는 것 — 한계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042416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2920" y="1042416"/>
            <a:ext cx="54864" cy="749808"/>
          </a:xfrm>
          <a:prstGeom prst="rect">
            <a:avLst/>
          </a:prstGeom>
          <a:solidFill>
            <a:srgbClr val="B0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10881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97280" y="1115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 한 명이 무너짐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206240" y="112471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ours 0.8200 / EAR-head 0.9802. 학습에 포함하면 0.9998 이므로 데이터가 아니라 전이 실패임. train−test 격차 0.1798 은 57명 중 최대(중앙 0.0063, 2위 U16 0.057). 어두운 조명 + 두꺼운 뿔테가 후보지만 단일 요인으로 특정하지 못함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02920" y="1865376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1865376"/>
            <a:ext cx="54864" cy="749808"/>
          </a:xfrm>
          <a:prstGeom prst="rect">
            <a:avLst/>
          </a:prstGeom>
          <a:solidFill>
            <a:srgbClr val="B0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1911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97280" y="1938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안경군에서 우위가 작음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206240" y="194767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가중 +0.0084 vs 미착용 +0.0208. "안경에서 EAR 이 더 망가져 우리에게 유리"라는 사전 예상이 실측에서 뒤집힘. 다만 ±1명에 좌우되므로 어느 방향으로도 확정 불가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" y="2688336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2920" y="2688336"/>
            <a:ext cx="54864" cy="749808"/>
          </a:xfrm>
          <a:prstGeom prst="rect">
            <a:avLst/>
          </a:prstGeom>
          <a:solidFill>
            <a:srgbClr val="B07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7340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7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097280" y="2761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서브그룹 풀링 δ 판정 불가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206240" y="277063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런이 원시 점수와 EAR-head 가중치를 저장하지 않음. 다음 런에서 사이드카로 해결됨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2920" y="3511296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2920" y="3511296"/>
            <a:ext cx="54864" cy="749808"/>
          </a:xfrm>
          <a:prstGeom prst="rect">
            <a:avLst/>
          </a:prstGeom>
          <a:solidFill>
            <a:srgbClr val="B07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5800" y="35570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7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1097280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대조군 2·3·4 미측정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206240" y="359359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CNN 직접 / random projection / 평균 벡터 → 표현 단계와 학습의 기여가 아직 분리되지 않음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02920" y="4334256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02920" y="4334256"/>
            <a:ext cx="54864" cy="749808"/>
          </a:xfrm>
          <a:prstGeom prst="rect">
            <a:avLst/>
          </a:prstGeom>
          <a:solidFill>
            <a:srgbClr val="B07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85800" y="43799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7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097280" y="4407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선택 시간적 일관성 미수정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206240" y="441655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프레임 위치를 참조하지 않음. 현재는 사후 플래그로 차단 중임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02920" y="5157216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02920" y="5157216"/>
            <a:ext cx="54864" cy="749808"/>
          </a:xfrm>
          <a:prstGeom prst="rect">
            <a:avLst/>
          </a:prstGeom>
          <a:solidFill>
            <a:srgbClr val="B07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85800" y="52029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7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1097280" y="5230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Pi5 지연 v2 기준 미측정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4206240" y="523951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수치(p99 12.06 ms)는 인용하지 않음. 인코더 구조가 다르고 mEBAL2 는 1280×720 임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02920" y="5998464"/>
            <a:ext cx="11155680" cy="237744"/>
          </a:xfrm>
          <a:prstGeom prst="roundRect">
            <a:avLst>
              <a:gd name="adj" fmla="val 23077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94360" y="599846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교락 검사(대조군 8)는 통과했음 — t_rel 단독 MLP 0.5282(유병률 0.4978), EAR 에 t_rel 을 더해도 개선 없음(−0.0032)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results/v2/u1_audit.json · diagnose_subject.json · posthoc_subgroups.json · docs/v2/PROTOCOL.md §0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502920" y="1536192"/>
            <a:ext cx="3621024" cy="13716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 · Pi5 재측정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8952" y="2103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vpres D=16, 1280×720 에서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p99 e2e ≤ 33.3 ms 확인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270248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4270248" y="1536192"/>
            <a:ext cx="3621024" cy="13716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26280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대조군 2·3·4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26280" y="2103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자체와 학습 목적함수의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기여를 분리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037576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B0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8037576" y="1536192"/>
            <a:ext cx="3621024" cy="13716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93608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 억제 방향 결정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293608" y="2103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0.6345 → 목표 &lt; 0.086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박사님 확인 후 후속 연구로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0292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정렬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74720"/>
          <a:ext cx="111556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94944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Pi5 재측정 (Phase 6 게이트: p99 e2e ≤ 33.3 ms @ 1280×720)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미착수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대조군 2·3·4 로 표현 / 학습 기여 분리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사이드카 적용 재실행 → 서브그룹 풀링 δ 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반영 완료, 재실행 대기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얼굴 선택 시간적 일관성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라운드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신원 억제 기전 + 유용성–프라이버시 파레토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박사님 확인 대기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502920" y="5541264"/>
            <a:ext cx="11155680" cy="603504"/>
          </a:xfrm>
          <a:prstGeom prst="roundRect">
            <a:avLst>
              <a:gd name="adj" fmla="val 9091"/>
            </a:avLst>
          </a:prstGeom>
          <a:solidFill>
            <a:srgbClr val="E8EFF9"/>
          </a:solidFill>
          <a:ln w="12700">
            <a:solidFill>
              <a:srgbClr val="BBD0E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" y="56144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5번이 왜 필요한지 이번 라운드가 숫자로 보여줌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77240" y="58704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파레토 게이트는 재식별 &lt; 0.086 (균형 chance 의 5배)인데 현재 0.6345 로 7.4배 초과임. 억제 기전 없이는 도달 불가능함이 실측으로 확인됨.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docs/v2/PROTOCOL.md §11 후속 게이트 · docs/PI5_BENCHMARK.md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554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321040" y="219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BACKUP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4048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pic>
        <p:nvPicPr>
          <p:cNvPr id="6" name="Image 1" descr="sc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6355080"/>
            <a:ext cx="868680" cy="338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042416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11338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1430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우월인데 왜 비열등이라고 말하는가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05840" y="14264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 문장이 "동일 유용성 조건에서 신원 노출량을 정량화함"이므로 유용성 동등은 주장이 아니라 전제 조건임. 또한 안경군 이득이 +0.0084 로 작아 우월을 밀면 그 표가 반론이 됨.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2920" y="1901952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" y="1993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002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PR-AUC 0.9886 은 너무 높지 않은가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05840" y="2286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시각 교락은 대조군 8 로 검사해 배제함 (t_rel MLP 0.5282, EAR+t_rel 개선 없음). 다만 대조군 2·3·4 가 미측정이라 "표현의 기여"와 "학습된 판정 규칙의 기여"는 아직 분리 전임.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2761488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3232" y="28529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286207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재식별 0.63 이면 프라이버시가 없는 것 아닌가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005840" y="31455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사실임. 그래서 이번 라운드는 프라이버시를 주장하지 않고 정량화만 함. 랜덤 인코더가 이미 0.6261 이라는 점이 억제를 어디에 걸어야 하는지를 지시함 — 목적함수가 아니라 입력 단계임.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2920" y="3621024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3232" y="37124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05840" y="372160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57명은 적지 않은가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005840" y="40050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mEBAL2 전체는 180명이며 배포본이 58명임. 논문에 그대로 표기함. 피험자 분리 5-fold 에 배치 이중 층화를 적용했고, 신뢰구간은 피험자 클러스터 부트스트랩이므로 이벤트를 독립 표본처럼 계수하지 않음.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02920" y="4480560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3232" y="45720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05840" y="45811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128차원에서 16차원으로 줄인 이유는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005840" y="48646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 축소는 프라이버시 목적이 아님 (640배 축소에도 재식별 0.63). D=16 은 연산 예산과 유용성을 기준으로 고정한 값이며, 세로 해상도 보존(비대칭 stride)이 실제 성능 요인임.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02920" y="5340096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13232" y="54315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5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005840" y="544068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오토인코더를 왜 버렸는가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1005840" y="5724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 목적함수는 깜빡임과 무관한 정보(신원·조명·질감)를 함께 보존함. v2 는 깜빡임 라벨로 직접 지도학습하며, 디코더는 검증 도구로만 유지함.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05840" y="64190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docs/v2/PROTOCOL.md · docs/랩미팅_PPT_페이지별_보강안.md §3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 Sensors 진행사항 (2026-08-05 랩미팅)</dc:title>
  <dc:subject>PptxGenJS Presentation</dc:subject>
  <dc:creator>SCH</dc:creator>
  <cp:lastModifiedBy>SCH</cp:lastModifiedBy>
  <cp:revision>1</cp:revision>
  <dcterms:created xsi:type="dcterms:W3CDTF">2026-08-04T08:44:56Z</dcterms:created>
  <dcterms:modified xsi:type="dcterms:W3CDTF">2026-08-04T08:44:56Z</dcterms:modified>
</cp:coreProperties>
</file>
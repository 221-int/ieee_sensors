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9a8494bdd24779" /><Relationship Type="http://schemas.openxmlformats.org/officeDocument/2006/relationships/extended-properties" Target="/docProps/app.xml" Id="R519993f2ec6a478f" /><Relationship Type="http://schemas.openxmlformats.org/officeDocument/2006/relationships/officeDocument" Target="/ppt/presentation.xml" Id="Rfeba130dd82442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1f3b8ee0744e77"/>
  </p:sldMasterIdLst>
  <p:notesMasterIdLst>
    <p:notesMasterId xmlns:r="http://schemas.openxmlformats.org/officeDocument/2006/relationships" r:id="R8f770fcd17cf417d"/>
  </p:notesMasterIdLst>
  <p:sldIdLst>
    <p:sldId xmlns:r="http://schemas.openxmlformats.org/officeDocument/2006/relationships" id="256" r:id="R3c6eaaeade0140d0"/>
    <p:sldId xmlns:r="http://schemas.openxmlformats.org/officeDocument/2006/relationships" id="257" r:id="Rced81b77ff4a4492"/>
    <p:sldId xmlns:r="http://schemas.openxmlformats.org/officeDocument/2006/relationships" id="258" r:id="Rc4775fef11a6426e"/>
    <p:sldId xmlns:r="http://schemas.openxmlformats.org/officeDocument/2006/relationships" id="259" r:id="Re5d735bb175e439d"/>
    <p:sldId xmlns:r="http://schemas.openxmlformats.org/officeDocument/2006/relationships" id="260" r:id="R6e850b5af4c14b98"/>
    <p:sldId xmlns:r="http://schemas.openxmlformats.org/officeDocument/2006/relationships" id="261" r:id="R30d60953395043c3"/>
    <p:sldId xmlns:r="http://schemas.openxmlformats.org/officeDocument/2006/relationships" id="262" r:id="R8c5e8982b2514289"/>
    <p:sldId xmlns:r="http://schemas.openxmlformats.org/officeDocument/2006/relationships" id="263" r:id="R7fe269e9bca04a72"/>
    <p:sldId xmlns:r="http://schemas.openxmlformats.org/officeDocument/2006/relationships" id="264" r:id="R14202bff4ee542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6511246f174b13" /><Relationship Type="http://schemas.openxmlformats.org/officeDocument/2006/relationships/slideMaster" Target="/ppt/slideMasters/slideMaster1.xml" Id="R821f3b8ee0744e77" /><Relationship Type="http://schemas.openxmlformats.org/officeDocument/2006/relationships/notesMaster" Target="/ppt/notesMasters/notesMaster1.xml" Id="R8f770fcd17cf417d" /><Relationship Type="http://schemas.openxmlformats.org/officeDocument/2006/relationships/presProps" Target="/ppt/presProps.xml" Id="R27bc7b7238644045" /><Relationship Type="http://schemas.openxmlformats.org/officeDocument/2006/relationships/tableStyles" Target="/ppt/tableStyles.xml" Id="Rd05f3b78b8144fa3" /><Relationship Type="http://schemas.openxmlformats.org/officeDocument/2006/relationships/slide" Target="/ppt/slides/slide1.xml" Id="R3c6eaaeade0140d0" /><Relationship Type="http://schemas.openxmlformats.org/officeDocument/2006/relationships/slide" Target="/ppt/slides/slide2.xml" Id="Rced81b77ff4a4492" /><Relationship Type="http://schemas.openxmlformats.org/officeDocument/2006/relationships/slide" Target="/ppt/slides/slide3.xml" Id="Rc4775fef11a6426e" /><Relationship Type="http://schemas.openxmlformats.org/officeDocument/2006/relationships/slide" Target="/ppt/slides/slide4.xml" Id="Re5d735bb175e439d" /><Relationship Type="http://schemas.openxmlformats.org/officeDocument/2006/relationships/slide" Target="/ppt/slides/slide5.xml" Id="R6e850b5af4c14b98" /><Relationship Type="http://schemas.openxmlformats.org/officeDocument/2006/relationships/slide" Target="/ppt/slides/slide6.xml" Id="R30d60953395043c3" /><Relationship Type="http://schemas.openxmlformats.org/officeDocument/2006/relationships/slide" Target="/ppt/slides/slide7.xml" Id="R8c5e8982b2514289" /><Relationship Type="http://schemas.openxmlformats.org/officeDocument/2006/relationships/slide" Target="/ppt/slides/slide8.xml" Id="R7fe269e9bca04a72" /><Relationship Type="http://schemas.openxmlformats.org/officeDocument/2006/relationships/slide" Target="/ppt/slides/slide9.xml" Id="R14202bff4ee542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fcf52d439c4c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50b50fb6ca42d6" /><Relationship Type="http://schemas.openxmlformats.org/officeDocument/2006/relationships/notesMaster" Target="/ppt/notesMasters/notesMaster1.xml" Id="R969665e5913a41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5321be0d794fe0" /><Relationship Type="http://schemas.openxmlformats.org/officeDocument/2006/relationships/notesMaster" Target="/ppt/notesMasters/notesMaster1.xml" Id="Rcefa72cb8b7d41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652a4d71f24df6" /><Relationship Type="http://schemas.openxmlformats.org/officeDocument/2006/relationships/notesMaster" Target="/ppt/notesMasters/notesMaster1.xml" Id="Rceb1fbe1fcaf4d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f6b3845b3e4d4b" /><Relationship Type="http://schemas.openxmlformats.org/officeDocument/2006/relationships/notesMaster" Target="/ppt/notesMasters/notesMaster1.xml" Id="R3f9020644c2a44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ca724123584f9e" /><Relationship Type="http://schemas.openxmlformats.org/officeDocument/2006/relationships/notesMaster" Target="/ppt/notesMasters/notesMaster1.xml" Id="R1973cc03a82c43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10d2d4011f44ba" /><Relationship Type="http://schemas.openxmlformats.org/officeDocument/2006/relationships/notesMaster" Target="/ppt/notesMasters/notesMaster1.xml" Id="R392df57a3c5a44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5cb19e61384c70" /><Relationship Type="http://schemas.openxmlformats.org/officeDocument/2006/relationships/notesMaster" Target="/ppt/notesMasters/notesMaster1.xml" Id="R753e822e5d904d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513ec6379743c4" /><Relationship Type="http://schemas.openxmlformats.org/officeDocument/2006/relationships/notesMaster" Target="/ppt/notesMasters/notesMaster1.xml" Id="Ra3fa6eb3320144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fb2ad412c745fb" /><Relationship Type="http://schemas.openxmlformats.org/officeDocument/2006/relationships/notesMaster" Target="/ppt/notesMasters/notesMaster1.xml" Id="R9ef9c360bd7040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docs/v2/PROTOCOL.md §0; docs/PROJECT.md §2;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docs/PROJECT.md §2 and v1/v2 table; README.md “핵심 전환”; docs/v2/PROMPT_v2.md “소비 완료”.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docs/v2/PROTOCOL.md §0 data table; §3-bis and §3-ter; results/v2/apply_flags_report.json.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src/v2/train_encoder.py; src/v2/model/encoder.py; docs/v2/PROTOCOL.md §§4, 7–9.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results/v2/train_encoder.json; results/v2/posthoc_subgroups.json; docs/v2/PROTOCOL.md §0 and §9.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results/v2/phase5_reid.json; docs/v2/PROTOCOL.md §0 Phase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results/v2/gate_minus1.json (latest PASS); docs/v2/PROTOCOL.md §§1–5 and §11.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docs/v2/PROTOCOL.md §0, §§9–13; results/v2/posthoc_subgroups.json; docs/PI5_BENCHMARK.md.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docs/v2/PROTOCOL.md §0 and §11; docs/PI5_BENCHMARK.md; docs/v2/HANDOFF.md.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88597839434f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7a1d7d817848b5" /><Relationship Type="http://schemas.openxmlformats.org/officeDocument/2006/relationships/slideLayout" Target="/ppt/slideLayouts/slideLayout1.xml" Id="R1fc3a77977734b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c3a77977734b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03935a305437c" /><Relationship Type="http://schemas.openxmlformats.org/officeDocument/2006/relationships/notesSlide" Target="/ppt/notesSlides/notesSlide1.xml" Id="R3c44437e8d7449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4d607168c4756" /><Relationship Type="http://schemas.openxmlformats.org/officeDocument/2006/relationships/notesSlide" Target="/ppt/notesSlides/notesSlide2.xml" Id="R34dcf6d60f8449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6a3027b55421b" /><Relationship Type="http://schemas.openxmlformats.org/officeDocument/2006/relationships/notesSlide" Target="/ppt/notesSlides/notesSlide3.xml" Id="R529f38d208ae41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bf69780fa4112" /><Relationship Type="http://schemas.openxmlformats.org/officeDocument/2006/relationships/notesSlide" Target="/ppt/notesSlides/notesSlide4.xml" Id="R9b210ff8a8384f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a10a3263f42a0" /><Relationship Type="http://schemas.openxmlformats.org/officeDocument/2006/relationships/notesSlide" Target="/ppt/notesSlides/notesSlide5.xml" Id="R48d2773b7fbe46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48ea004494df6" /><Relationship Type="http://schemas.openxmlformats.org/officeDocument/2006/relationships/notesSlide" Target="/ppt/notesSlides/notesSlide6.xml" Id="R7040b3f9b02b4e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497207c5b48fa" /><Relationship Type="http://schemas.openxmlformats.org/officeDocument/2006/relationships/notesSlide" Target="/ppt/notesSlides/notesSlide7.xml" Id="Rf5aeebce5cd041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6f5719dc043d4" /><Relationship Type="http://schemas.openxmlformats.org/officeDocument/2006/relationships/notesSlide" Target="/ppt/notesSlides/notesSlide8.xml" Id="Rd070eb4554d04c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12db62e864a5d" /><Relationship Type="http://schemas.openxmlformats.org/officeDocument/2006/relationships/notesSlide" Target="/ppt/notesSlides/notesSlide9.xml" Id="R0257b6c8c5a74d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34AE7-DDC6-4D69-8AC9-83A4D03B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 w="9525">
            <a:solidFill>
              <a:srgbClr val="102B4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92F72-B014-4922-8F81-17E136D2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906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5EAA"/>
                </a:solidFill>
              </a:defRPr>
            </a:pPr>
            <a:r>
              <a:rPr sz="1275" b="1">
                <a:solidFill>
                  <a:srgbClr val="2E5EAA"/>
                </a:solidFill>
              </a:rPr>
              <a:t>LAB MEETING  |  2026.08.05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EF4DC-8045-4F7E-A7C9-F7C88431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704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B4E"/>
                </a:solidFill>
              </a:defRPr>
            </a:pPr>
            <a:r>
              <a:rPr sz="3300" b="1">
                <a:solidFill>
                  <a:srgbClr val="102B4E"/>
                </a:solidFill>
              </a:rPr>
              <a:t>v2 눈 깜빡임 인코더:</a:t>
            </a:r>
          </a:p>
          <a:p xmlns:a="http://schemas.openxmlformats.org/drawingml/2006/main">
            <a:pPr algn="l">
              <a:defRPr sz="3300" b="1">
                <a:solidFill>
                  <a:srgbClr val="102B4E"/>
                </a:solidFill>
              </a:defRPr>
            </a:pPr>
            <a:r>
              <a:rPr sz="3300" b="1">
                <a:solidFill>
                  <a:srgbClr val="102B4E"/>
                </a:solidFill>
              </a:rPr>
              <a:t>유용성은 확보했고,</a:t>
            </a:r>
          </a:p>
          <a:p xmlns:a="http://schemas.openxmlformats.org/drawingml/2006/main">
            <a:pPr algn="l">
              <a:defRPr sz="3300" b="1">
                <a:solidFill>
                  <a:srgbClr val="102B4E"/>
                </a:solidFill>
              </a:defRPr>
            </a:pPr>
            <a:r>
              <a:rPr sz="3300" b="1">
                <a:solidFill>
                  <a:srgbClr val="102B4E"/>
                </a:solidFill>
              </a:rPr>
              <a:t>신원 누출은 남아 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8ABE9-54EC-4DB8-897E-D245DFF5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657A"/>
                </a:solidFill>
              </a:defRPr>
            </a:pPr>
            <a:r>
              <a:rPr sz="1800" b="0">
                <a:solidFill>
                  <a:srgbClr val="56657A"/>
                </a:solidFill>
              </a:rPr>
              <a:t>mEBAL2 57명에서 직접 지도학습한 16차원 벡터와</a:t>
            </a:r>
          </a:p>
          <a:p xmlns:a="http://schemas.openxmlformats.org/drawingml/2006/main">
            <a:pPr algn="l">
              <a:defRPr sz="1800" b="0">
                <a:solidFill>
                  <a:srgbClr val="56657A"/>
                </a:solidFill>
              </a:defRPr>
            </a:pPr>
            <a:r>
              <a:rPr sz="1800" b="0">
                <a:solidFill>
                  <a:srgbClr val="56657A"/>
                </a:solidFill>
              </a:rPr>
              <a:t>EAR 베이스라인을 같은 조건에서 비교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A0249-A4FC-46F2-91D0-EC4F760C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2571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A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D4789-B080-4D60-A279-B421DA6A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235"/>
                </a:solidFill>
              </a:defRPr>
            </a:pPr>
            <a:r>
              <a:rPr sz="1500" b="1">
                <a:solidFill>
                  <a:srgbClr val="162235"/>
                </a:solidFill>
              </a:rPr>
              <a:t>핵심 질문  |  깜빡임은 잘 잡는가?  신원은 얼마나 남는가?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4D5B6-5774-4501-9EE1-75CB4D8E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85850"/>
            <a:ext cx="2590800" cy="314325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EAF1F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36AE7-F875-4D1B-9800-7F0F9295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24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5EAA"/>
                </a:solidFill>
              </a:defRPr>
            </a:pPr>
            <a:r>
              <a:rPr sz="1500" b="1">
                <a:solidFill>
                  <a:srgbClr val="2E5EAA"/>
                </a:solidFill>
              </a:rPr>
              <a:t>v2 기준선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FA19C-7ACB-4DED-B9FD-D08CF8AD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9550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B4E"/>
                </a:solidFill>
              </a:defRPr>
            </a:pPr>
            <a:r>
              <a:rPr sz="2325" b="1">
                <a:solidFill>
                  <a:srgbClr val="102B4E"/>
                </a:solidFill>
              </a:rPr>
              <a:t>57명</a:t>
            </a:r>
          </a:p>
          <a:p xmlns:a="http://schemas.openxmlformats.org/drawingml/2006/main">
            <a:pPr algn="ctr">
              <a:defRPr sz="2325" b="1">
                <a:solidFill>
                  <a:srgbClr val="102B4E"/>
                </a:solidFill>
              </a:defRPr>
            </a:pPr>
            <a:r>
              <a:rPr sz="2325" b="1">
                <a:solidFill>
                  <a:srgbClr val="102B4E"/>
                </a:solidFill>
              </a:rPr>
              <a:t>27,758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787DF-6C59-4BF4-823D-896E6E34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051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6657A"/>
                </a:solidFill>
              </a:defRPr>
            </a:pPr>
            <a:r>
              <a:rPr sz="1275" b="1">
                <a:solidFill>
                  <a:srgbClr val="56657A"/>
                </a:solidFill>
              </a:rPr>
              <a:t>vpres CNN · D=16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F6125-DB59-4203-B05F-5D9692B2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628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57A"/>
                </a:solidFill>
              </a:defRPr>
            </a:pPr>
            <a:r>
              <a:rPr sz="1050" b="0">
                <a:solidFill>
                  <a:srgbClr val="56657A"/>
                </a:solidFill>
              </a:rPr>
              <a:t>IEEE Sensors Letters 방향 점검</a:t>
            </a:r>
          </a:p>
        </p:txBody>
      </p:sp>
    </p:spTree>
    <p:extLst>
      <p:ext uri="{BB962C8B-B14F-4D97-AF65-F5344CB8AC3E}">
        <p14:creationId xmlns:p14="http://schemas.microsoft.com/office/powerpoint/2010/main" val="1457340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3873A-5AF5-4857-9234-819B456E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WHY V2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B3DA7-07E0-4F52-B0AD-F4B172A3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E"/>
                </a:solidFill>
              </a:defRPr>
            </a:pPr>
            <a:r>
              <a:rPr sz="2850" b="1">
                <a:solidFill>
                  <a:srgbClr val="102B4E"/>
                </a:solidFill>
              </a:rPr>
              <a:t>v2는 인코더보다 검증 규칙을 먼저 고정했습니다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7EDED-733E-49E9-BEE4-9D4A1356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A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428B4-F0F0-4879-AE29-6BF96EB9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B18B4-93BB-4CE9-A4C4-525CF4CD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6657A"/>
                </a:solidFill>
              </a:defRPr>
            </a:pPr>
            <a:r>
              <a:rPr sz="1725" b="1">
                <a:solidFill>
                  <a:srgbClr val="56657A"/>
                </a:solidFill>
              </a:rPr>
              <a:t>이전 v1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03452-E1AD-4085-9AD5-284B6CBC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09750"/>
            <a:ext cx="417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E5EAA"/>
                </a:solidFill>
              </a:defRPr>
            </a:pPr>
            <a:r>
              <a:rPr sz="1725" b="1">
                <a:solidFill>
                  <a:srgbClr val="2E5EAA"/>
                </a:solidFill>
              </a:rPr>
              <a:t>현재 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2086B-7E52-4158-A9B2-47ED9BFB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3815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F6F8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8FFC9-F016-4165-8317-AA7EEAC7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3600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4E"/>
                </a:solidFill>
              </a:defRPr>
            </a:pPr>
            <a:r>
              <a:rPr sz="1875" b="1">
                <a:solidFill>
                  <a:srgbClr val="102B4E"/>
                </a:solidFill>
              </a:rPr>
              <a:t>8명 공개셋 · 128D 오토인코더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5E524-D4D6-4CCC-9DCD-ACA6EF8B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3562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57A"/>
                </a:solidFill>
              </a:defRPr>
            </a:pPr>
            <a:r>
              <a:rPr sz="1500" b="0">
                <a:solidFill>
                  <a:srgbClr val="56657A"/>
                </a:solidFill>
              </a:rPr>
              <a:t>• 데이터·분할·임계값이 현재 문제와 다름</a:t>
            </a:r>
          </a:p>
          <a:p xmlns:a="http://schemas.openxmlformats.org/drawingml/2006/main">
            <a:pPr algn="l">
              <a:defRPr sz="1500" b="0">
                <a:solidFill>
                  <a:srgbClr val="56657A"/>
                </a:solidFill>
              </a:defRPr>
            </a:pPr>
            <a:r>
              <a:rPr sz="1500" b="0">
                <a:solidFill>
                  <a:srgbClr val="56657A"/>
                </a:solidFill>
              </a:rPr>
              <a:t>• EAR와의 비교 기준이 흔들림</a:t>
            </a:r>
          </a:p>
          <a:p xmlns:a="http://schemas.openxmlformats.org/drawingml/2006/main">
            <a:pPr algn="l">
              <a:defRPr sz="1500" b="0">
                <a:solidFill>
                  <a:srgbClr val="56657A"/>
                </a:solidFill>
              </a:defRPr>
            </a:pPr>
            <a:r>
              <a:rPr sz="1500" b="0">
                <a:solidFill>
                  <a:srgbClr val="56657A"/>
                </a:solidFill>
              </a:rPr>
              <a:t>• 성능·프라이버시 결론을 이어 쓸 수 없음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3ED96-3505-4ECA-BC49-D4A16135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47900"/>
            <a:ext cx="55245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EAF1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CD695-1CE9-484D-8058-6D71D99D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B4E"/>
                </a:solidFill>
              </a:defRPr>
            </a:pPr>
            <a:r>
              <a:rPr sz="1875" b="1">
                <a:solidFill>
                  <a:srgbClr val="102B4E"/>
                </a:solidFill>
              </a:rPr>
              <a:t>57명 mEBAL2 · 직접 지도학습 vpres D=16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6680E-79DA-4F50-8151-5C9EE8B1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19450"/>
            <a:ext cx="4667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235"/>
                </a:solidFill>
              </a:defRPr>
            </a:pPr>
            <a:r>
              <a:rPr sz="1500" b="0">
                <a:solidFill>
                  <a:srgbClr val="162235"/>
                </a:solidFill>
              </a:rPr>
              <a:t>• 피험자 분리 5-fold × 3 seed</a:t>
            </a:r>
          </a:p>
          <a:p xmlns:a="http://schemas.openxmlformats.org/drawingml/2006/main">
            <a:pPr algn="l">
              <a:defRPr sz="1500" b="0">
                <a:solidFill>
                  <a:srgbClr val="162235"/>
                </a:solidFill>
              </a:defRPr>
            </a:pPr>
            <a:r>
              <a:rPr sz="1500" b="0">
                <a:solidFill>
                  <a:srgbClr val="162235"/>
                </a:solidFill>
              </a:rPr>
              <a:t>• EAR는 유용성 베이스라인으로 고정</a:t>
            </a:r>
          </a:p>
          <a:p xmlns:a="http://schemas.openxmlformats.org/drawingml/2006/main">
            <a:pPr algn="l">
              <a:defRPr sz="1500" b="0">
                <a:solidFill>
                  <a:srgbClr val="162235"/>
                </a:solidFill>
              </a:defRPr>
            </a:pPr>
            <a:r>
              <a:rPr sz="1500" b="0">
                <a:solidFill>
                  <a:srgbClr val="162235"/>
                </a:solidFill>
              </a:rPr>
              <a:t>• 신원 누출은 “숨겼다”가 아니라 “얼마나 남는가”로 측정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21833-3A47-47BA-97F5-C6DD6BE5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28975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E5EAA"/>
                </a:solidFill>
              </a:defRPr>
            </a:pPr>
            <a:r>
              <a:rPr sz="3150" b="1">
                <a:solidFill>
                  <a:srgbClr val="2E5EA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F7FCD-129E-4592-ADCD-350BB1C9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B4E"/>
                </a:solidFill>
              </a:defRPr>
            </a:pPr>
            <a:r>
              <a:rPr sz="1725" b="1">
                <a:solidFill>
                  <a:srgbClr val="102B4E"/>
                </a:solidFill>
              </a:rPr>
              <a:t>이번 라운드의 결론: 표현 학습의 효과와 입력 자체의 누출을 분리해 보여주는 기준선을 만든다.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822C1-4F68-434B-AD4F-5E5CB560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D4F77-442E-462A-A4DE-BD7142C1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57A"/>
                </a:solidFill>
              </a:defRPr>
            </a:pPr>
            <a:r>
              <a:rPr sz="900" b="0">
                <a:solidFill>
                  <a:srgbClr val="56657A"/>
                </a:solidFill>
              </a:rPr>
              <a:t>Source: docs/PROJECT.md §2; README.md; docs/v2/PROMPT_v2.md (consumed-history context)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EDAE8-A39A-4EE0-8A50-0212DAD8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B4E"/>
                </a:solidFill>
              </a:defRPr>
            </a:pPr>
            <a:r>
              <a:rPr sz="975" b="1">
                <a:solidFill>
                  <a:srgbClr val="102B4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97953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BA184C-D49C-4261-AC1D-A3AB3DC5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DATA AUDIT BEFORE MODELING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ACD2F-CFF0-4A91-84B5-B208E8C7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E"/>
                </a:solidFill>
              </a:defRPr>
            </a:pPr>
            <a:r>
              <a:rPr sz="2850" b="1">
                <a:solidFill>
                  <a:srgbClr val="102B4E"/>
                </a:solidFill>
              </a:rPr>
              <a:t>먼저 데이터의 실제 구조와 오염을 바로잡았습니다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E8DECD-29BC-483B-BABE-E8E8D31D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A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37961-91CA-44AF-A10E-B895B34B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7E57E-C220-4295-BB7F-C01A65C3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476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10419-B463-43E4-8405-81C294EB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A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B45BA-6F20-4D1A-9E4B-029DACC0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657A"/>
                </a:solidFill>
              </a:defRPr>
            </a:pPr>
            <a:r>
              <a:rPr sz="1200" b="1">
                <a:solidFill>
                  <a:srgbClr val="56657A"/>
                </a:solidFill>
              </a:rPr>
              <a:t>원 배포본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57E8A-2C42-45F1-A93D-B5EFDCC7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4E"/>
                </a:solidFill>
              </a:defRPr>
            </a:pPr>
            <a:r>
              <a:rPr sz="2550" b="1">
                <a:solidFill>
                  <a:srgbClr val="102B4E"/>
                </a:solidFill>
              </a:rPr>
              <a:t>58명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FE0F6-ED18-4300-9FE3-E6822D78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57A"/>
                </a:solidFill>
              </a:defRPr>
            </a:pPr>
            <a:r>
              <a:rPr sz="1050" b="0">
                <a:solidFill>
                  <a:srgbClr val="56657A"/>
                </a:solidFill>
              </a:rPr>
              <a:t>mEBAL1 38 + 신규 mEBAL2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8890B-500A-4B08-A898-40B54E66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47850"/>
            <a:ext cx="2476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61E83B-3F75-46BF-B8F0-D3A6012A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478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78"/>
          </a:solidFill>
          <a:ln xmlns:a="http://schemas.openxmlformats.org/drawingml/2006/main" w="9525">
            <a:solidFill>
              <a:srgbClr val="2E7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B22B0-E09B-4DAE-91C5-D0A4923F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574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657A"/>
                </a:solidFill>
              </a:defRPr>
            </a:pPr>
            <a:r>
              <a:rPr sz="1200" b="1">
                <a:solidFill>
                  <a:srgbClr val="56657A"/>
                </a:solidFill>
              </a:rPr>
              <a:t>최종 분석 코호트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46B8D-8A1C-4AC4-9289-104E7706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431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4E"/>
                </a:solidFill>
              </a:defRPr>
            </a:pPr>
            <a:r>
              <a:rPr sz="2550" b="1">
                <a:solidFill>
                  <a:srgbClr val="102B4E"/>
                </a:solidFill>
              </a:rPr>
              <a:t>57명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12A41-F119-4314-8083-23BF2BBD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1940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57A"/>
                </a:solidFill>
              </a:defRPr>
            </a:pPr>
            <a:r>
              <a:rPr sz="1050" b="0">
                <a:solidFill>
                  <a:srgbClr val="56657A"/>
                </a:solidFill>
              </a:rPr>
              <a:t>U18 제외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F32AD-32CD-4510-BFB0-DB158A35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24765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8E4F5-199E-4F61-90F2-3A972C51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478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0"/>
          </a:solidFill>
          <a:ln xmlns:a="http://schemas.openxmlformats.org/drawingml/2006/main" w="9525">
            <a:solidFill>
              <a:srgbClr val="C18A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7D1E02-6AE0-4C40-98EA-DA42577D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657A"/>
                </a:solidFill>
              </a:defRPr>
            </a:pPr>
            <a:r>
              <a:rPr sz="1200" b="1">
                <a:solidFill>
                  <a:srgbClr val="56657A"/>
                </a:solidFill>
              </a:rPr>
              <a:t>유효 이벤트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D616D-8162-442D-B99C-850AC522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4E"/>
                </a:solidFill>
              </a:defRPr>
            </a:pPr>
            <a:r>
              <a:rPr sz="2550" b="1">
                <a:solidFill>
                  <a:srgbClr val="102B4E"/>
                </a:solidFill>
              </a:rPr>
              <a:t>27,758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F0866-7755-4059-BAA2-27A53D11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57A"/>
                </a:solidFill>
              </a:defRPr>
            </a:pPr>
            <a:r>
              <a:rPr sz="1050" b="0">
                <a:solidFill>
                  <a:srgbClr val="56657A"/>
                </a:solidFill>
              </a:rPr>
              <a:t>28,728 중 결측·좌석·U18 제외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4F0DC5-40C9-4F1D-A702-B353F36E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47850"/>
            <a:ext cx="27051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6325D-EC73-4181-ACE9-FC7DB6D1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478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A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0CE45-8029-42A2-960B-0162B06A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574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6657A"/>
                </a:solidFill>
              </a:defRPr>
            </a:pPr>
            <a:r>
              <a:rPr sz="1200" b="1">
                <a:solidFill>
                  <a:srgbClr val="56657A"/>
                </a:solidFill>
              </a:rPr>
              <a:t>입력 규모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726B5-D614-44AA-BE21-1C8CC432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B4E"/>
                </a:solidFill>
              </a:defRPr>
            </a:pPr>
            <a:r>
              <a:rPr sz="2550" b="1">
                <a:solidFill>
                  <a:srgbClr val="102B4E"/>
                </a:solidFill>
              </a:rPr>
              <a:t>532,109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277C50-E8AD-4CC9-9CFA-CD13119A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1940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57A"/>
                </a:solidFill>
              </a:defRPr>
            </a:pPr>
            <a:r>
              <a:rPr sz="1050" b="0">
                <a:solidFill>
                  <a:srgbClr val="56657A"/>
                </a:solidFill>
              </a:rPr>
              <a:t>64×160 눈 크롭 프레임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31D691-9810-440D-8B5C-67383AFF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89B26-84C3-4F2F-AB1E-E72C281C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4B4B"/>
                </a:solidFill>
              </a:defRPr>
            </a:pPr>
            <a:r>
              <a:rPr sz="1500" b="1">
                <a:solidFill>
                  <a:srgbClr val="B94B4B"/>
                </a:solidFill>
              </a:rPr>
              <a:t>발견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B56F63-C699-4F90-B044-87A9236B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4457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235"/>
                </a:solidFill>
              </a:defRPr>
            </a:pPr>
            <a:r>
              <a:rPr sz="1500" b="0">
                <a:solidFill>
                  <a:srgbClr val="162235"/>
                </a:solidFill>
              </a:rPr>
              <a:t>2022 배치에는 여러 사람이 함께 촬영된 장면이 있어</a:t>
            </a:r>
          </a:p>
          <a:p xmlns:a="http://schemas.openxmlformats.org/drawingml/2006/main">
            <a:pPr algn="l">
              <a:defRPr sz="1500" b="0">
                <a:solidFill>
                  <a:srgbClr val="162235"/>
                </a:solidFill>
              </a:defRPr>
            </a:pPr>
            <a:r>
              <a:rPr sz="1500" b="0">
                <a:solidFill>
                  <a:srgbClr val="162235"/>
                </a:solidFill>
              </a:rPr>
              <a:t>주 피험자가 아닌 얼굴이 선택되는 사례가 존재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39318E-7078-44AA-9833-965E3256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78"/>
                </a:solidFill>
              </a:defRPr>
            </a:pPr>
            <a:r>
              <a:rPr sz="1500" b="1">
                <a:solidFill>
                  <a:srgbClr val="2E7D78"/>
                </a:solidFill>
              </a:rPr>
              <a:t>대응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3D85A7-35E7-4BF3-8669-233C9DEA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1500"/>
            <a:ext cx="4457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235"/>
                </a:solidFill>
              </a:defRPr>
            </a:pPr>
            <a:r>
              <a:rPr sz="1500" b="0">
                <a:solidFill>
                  <a:srgbClr val="162235"/>
                </a:solidFill>
              </a:rPr>
              <a:t>프레임별 화면 x 위치를 다시 추적해 좌석 이탈을 플래그하고</a:t>
            </a:r>
          </a:p>
          <a:p xmlns:a="http://schemas.openxmlformats.org/drawingml/2006/main">
            <a:pPr algn="l">
              <a:defRPr sz="1500" b="0">
                <a:solidFill>
                  <a:srgbClr val="162235"/>
                </a:solidFill>
              </a:defRPr>
            </a:pPr>
            <a:r>
              <a:rPr sz="1500" b="0">
                <a:solidFill>
                  <a:srgbClr val="162235"/>
                </a:solidFill>
              </a:rPr>
              <a:t>U18 및 오염 이벤트를 분석에서 제외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1B6114-049E-4316-9861-AECE806E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4E"/>
                </a:solidFill>
              </a:defRPr>
            </a:pPr>
            <a:r>
              <a:rPr sz="1650" b="1">
                <a:solidFill>
                  <a:srgbClr val="102B4E"/>
                </a:solidFill>
              </a:rPr>
              <a:t>중요: 모델 성능보다 먼저 “누구의 눈을 보고 있는가”를 검증한 뒤 평가 코호트를 고정했습니다.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04EB81-5543-4B99-90D6-2E9C94AD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0AB7FE-B545-4381-95F4-4F9A5AB7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57A"/>
                </a:solidFill>
              </a:defRPr>
            </a:pPr>
            <a:r>
              <a:rPr sz="900" b="0">
                <a:solidFill>
                  <a:srgbClr val="56657A"/>
                </a:solidFill>
              </a:rPr>
              <a:t>Source: docs/v2/PROTOCOL.md §0, §3-bis, §3-ter; results/v2/apply_flags_report.json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C2E697-9F5C-48CE-AFF9-34E48DAA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B4E"/>
                </a:solidFill>
              </a:defRPr>
            </a:pPr>
            <a:r>
              <a:rPr sz="975" b="1">
                <a:solidFill>
                  <a:srgbClr val="102B4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558618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5564DC-79A8-46EA-B4D9-C20CF20F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CURRENT V2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59F8A-3196-462A-B643-FAC4A79D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E"/>
                </a:solidFill>
              </a:defRPr>
            </a:pPr>
            <a:r>
              <a:rPr sz="2850" b="1">
                <a:solidFill>
                  <a:srgbClr val="102B4E"/>
                </a:solidFill>
              </a:rPr>
              <a:t>같은 입력에서 유용성과 신원 누출을 함께 측정합니다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214E0-48A9-47DA-BB70-ACEA352F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A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9F591-25C9-4E8F-88F6-B412370D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99C91-3E4D-41B6-812B-421C2DC2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562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EB7A8-DC8B-49AB-AFD3-A1478E7D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B4E"/>
                </a:solidFill>
              </a:defRPr>
            </a:pPr>
            <a:r>
              <a:rPr sz="1350" b="1">
                <a:solidFill>
                  <a:srgbClr val="102B4E"/>
                </a:solidFill>
              </a:rPr>
              <a:t>mEBAL2 이벤트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C7729-570D-4F59-81E1-8BA65B07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57A"/>
                </a:solidFill>
              </a:defRPr>
            </a:pPr>
            <a:r>
              <a:rPr sz="1200" b="0">
                <a:solidFill>
                  <a:srgbClr val="56657A"/>
                </a:solidFill>
              </a:rPr>
              <a:t>19프레임</a:t>
            </a:r>
          </a:p>
          <a:p xmlns:a="http://schemas.openxmlformats.org/drawingml/2006/main">
            <a:pPr algn="ctr">
              <a:defRPr sz="1200" b="0">
                <a:solidFill>
                  <a:srgbClr val="56657A"/>
                </a:solidFill>
              </a:defRPr>
            </a:pPr>
            <a:r>
              <a:rPr sz="1200" b="0">
                <a:solidFill>
                  <a:srgbClr val="56657A"/>
                </a:solidFill>
              </a:rPr>
              <a:t>blink / unblink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B1A3D-A718-4565-8ACD-253F80FE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479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5EAA"/>
                </a:solidFill>
              </a:defRPr>
            </a:pPr>
            <a:r>
              <a:rPr sz="2100" b="1">
                <a:solidFill>
                  <a:srgbClr val="2E5EA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071B5-4CA8-43AD-BA3B-EAAE86F2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286000"/>
            <a:ext cx="1562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11120-1153-4B18-80F4-6085873B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5527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B4E"/>
                </a:solidFill>
              </a:defRPr>
            </a:pPr>
            <a:r>
              <a:rPr sz="1350" b="1">
                <a:solidFill>
                  <a:srgbClr val="102B4E"/>
                </a:solidFill>
              </a:rPr>
              <a:t>품질·오염 필터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C01AD-1F07-4945-AA68-32312CFC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9908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57A"/>
                </a:solidFill>
              </a:defRPr>
            </a:pPr>
            <a:r>
              <a:rPr sz="1200" b="0">
                <a:solidFill>
                  <a:srgbClr val="56657A"/>
                </a:solidFill>
              </a:rPr>
              <a:t>결측 ≤5</a:t>
            </a:r>
          </a:p>
          <a:p xmlns:a="http://schemas.openxmlformats.org/drawingml/2006/main">
            <a:pPr algn="ctr">
              <a:defRPr sz="1200" b="0">
                <a:solidFill>
                  <a:srgbClr val="56657A"/>
                </a:solidFill>
              </a:defRPr>
            </a:pPr>
            <a:r>
              <a:rPr sz="1200" b="0">
                <a:solidFill>
                  <a:srgbClr val="56657A"/>
                </a:solidFill>
              </a:rPr>
              <a:t>좌석 이탈·U18 제외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A54AC-CBD9-49C3-85B7-4A6927FC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479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5EAA"/>
                </a:solidFill>
              </a:defRPr>
            </a:pPr>
            <a:r>
              <a:rPr sz="2100" b="1">
                <a:solidFill>
                  <a:srgbClr val="2E5EA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F7897-B010-4146-B326-1F4E301C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1562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84A31-B31D-47C2-92F7-9C4201F3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B4E"/>
                </a:solidFill>
              </a:defRPr>
            </a:pPr>
            <a:r>
              <a:rPr sz="1350" b="1">
                <a:solidFill>
                  <a:srgbClr val="102B4E"/>
                </a:solidFill>
              </a:rPr>
              <a:t>눈 크롭·정규화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B8696-3A3E-4C24-A3DA-081C65C9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57A"/>
                </a:solidFill>
              </a:defRPr>
            </a:pPr>
            <a:r>
              <a:rPr sz="1200" b="0">
                <a:solidFill>
                  <a:srgbClr val="56657A"/>
                </a:solidFill>
              </a:rPr>
              <a:t>64×160 · margin 2.2</a:t>
            </a:r>
          </a:p>
          <a:p xmlns:a="http://schemas.openxmlformats.org/drawingml/2006/main">
            <a:pPr algn="ctr">
              <a:defRPr sz="1200" b="0">
                <a:solidFill>
                  <a:srgbClr val="56657A"/>
                </a:solidFill>
              </a:defRPr>
            </a:pPr>
            <a:r>
              <a:rPr sz="1200" b="0">
                <a:solidFill>
                  <a:srgbClr val="56657A"/>
                </a:solidFill>
              </a:rPr>
              <a:t>frame standardize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CABCE-239A-4650-B041-6DFADD71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479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5EAA"/>
                </a:solidFill>
              </a:defRPr>
            </a:pPr>
            <a:r>
              <a:rPr sz="2100" b="1">
                <a:solidFill>
                  <a:srgbClr val="2E5EAA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60B8A-448A-4244-B7B3-CFA66944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86000"/>
            <a:ext cx="1562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82F59-6779-450D-9474-1975777A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527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B4E"/>
                </a:solidFill>
              </a:defRPr>
            </a:pPr>
            <a:r>
              <a:rPr sz="1350" b="1">
                <a:solidFill>
                  <a:srgbClr val="102B4E"/>
                </a:solidFill>
              </a:rPr>
              <a:t>vpres CNN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C078C9-808A-4D63-BA95-E290CB5F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908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57A"/>
                </a:solidFill>
              </a:defRPr>
            </a:pPr>
            <a:r>
              <a:rPr sz="1200" b="0">
                <a:solidFill>
                  <a:srgbClr val="56657A"/>
                </a:solidFill>
              </a:rPr>
              <a:t>프레임당</a:t>
            </a:r>
          </a:p>
          <a:p xmlns:a="http://schemas.openxmlformats.org/drawingml/2006/main">
            <a:pPr algn="ctr">
              <a:defRPr sz="1200" b="0">
                <a:solidFill>
                  <a:srgbClr val="56657A"/>
                </a:solidFill>
              </a:defRPr>
            </a:pPr>
            <a:r>
              <a:rPr sz="1200" b="0">
                <a:solidFill>
                  <a:srgbClr val="56657A"/>
                </a:solidFill>
              </a:rPr>
              <a:t>16차원 벡터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2FB2CC-5A89-4A7B-90B5-F00D60CD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479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E5EAA"/>
                </a:solidFill>
              </a:defRPr>
            </a:pPr>
            <a:r>
              <a:rPr sz="2100" b="1">
                <a:solidFill>
                  <a:srgbClr val="2E5EAA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CCCB6-E491-4E43-97B9-929155A6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1562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612D4-5E87-4B67-8160-690A61E2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527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B4E"/>
                </a:solidFill>
              </a:defRPr>
            </a:pPr>
            <a:r>
              <a:rPr sz="1350" b="1">
                <a:solidFill>
                  <a:srgbClr val="102B4E"/>
                </a:solidFill>
              </a:rPr>
              <a:t>시간 판정 헤드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590771-925A-409C-89D5-15D6C5DE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908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6657A"/>
                </a:solidFill>
              </a:defRPr>
            </a:pPr>
            <a:r>
              <a:rPr sz="1200" b="0">
                <a:solidFill>
                  <a:srgbClr val="56657A"/>
                </a:solidFill>
              </a:rPr>
              <a:t>TCN + MLP</a:t>
            </a:r>
          </a:p>
          <a:p xmlns:a="http://schemas.openxmlformats.org/drawingml/2006/main">
            <a:pPr algn="ctr">
              <a:defRPr sz="1200" b="0">
                <a:solidFill>
                  <a:srgbClr val="56657A"/>
                </a:solidFill>
              </a:defRPr>
            </a:pPr>
            <a:r>
              <a:rPr sz="1200" b="0">
                <a:solidFill>
                  <a:srgbClr val="56657A"/>
                </a:solidFill>
              </a:rPr>
              <a:t>blink 확률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B783A0-A071-4C32-BC78-92E2FA6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5EAA"/>
                </a:solidFill>
              </a:defRPr>
            </a:pPr>
            <a:r>
              <a:rPr sz="1500" b="1">
                <a:solidFill>
                  <a:srgbClr val="2E5EAA"/>
                </a:solidFill>
              </a:rPr>
              <a:t>평가 설계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56C2B-3B3A-40D7-9F28-32BD6C3E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5067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EDF38F-4DBF-48B0-A25D-7A409C92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B4E"/>
                </a:solidFill>
              </a:defRPr>
            </a:pPr>
            <a:r>
              <a:rPr sz="1350" b="1">
                <a:solidFill>
                  <a:srgbClr val="102B4E"/>
                </a:solidFill>
              </a:rPr>
              <a:t>유용성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70AEC6-81B0-40AF-94A6-1506AF99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57A"/>
                </a:solidFill>
              </a:defRPr>
            </a:pPr>
            <a:r>
              <a:rPr sz="1275" b="0">
                <a:solidFill>
                  <a:srgbClr val="56657A"/>
                </a:solidFill>
              </a:rPr>
              <a:t>피험자 분리 5-fold × 3 seed · PR-AUC · EAR-head와 비교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722965-30AE-4216-9D69-A1648375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5067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3F2AF3-E9CE-46A4-971F-CCA3762E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1490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B4E"/>
                </a:solidFill>
              </a:defRPr>
            </a:pPr>
            <a:r>
              <a:rPr sz="1350" b="1">
                <a:solidFill>
                  <a:srgbClr val="102B4E"/>
                </a:solidFill>
              </a:rPr>
              <a:t>신원 누출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26E55D-1B37-40C0-985A-E92F7D1C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62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57A"/>
                </a:solidFill>
              </a:defRPr>
            </a:pPr>
            <a:r>
              <a:rPr sz="1275" b="0">
                <a:solidFill>
                  <a:srgbClr val="56657A"/>
                </a:solidFill>
              </a:rPr>
              <a:t>시간 블록 MLP 재식별 · 균형 표집 · 랜덤 인코더와 비교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B1A458-888A-47D7-AA60-4F9DD4FD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89585C-8C0A-4346-A51C-B251B621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57A"/>
                </a:solidFill>
              </a:defRPr>
            </a:pPr>
            <a:r>
              <a:rPr sz="900" b="0">
                <a:solidFill>
                  <a:srgbClr val="56657A"/>
                </a:solidFill>
              </a:rPr>
              <a:t>Source: src/v2/train_encoder.py; src/v2/model/encoder.py; docs/v2/PROTOCOL.md §§4, 7–9.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EB2485-9068-49E2-A350-481D4C80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B4E"/>
                </a:solidFill>
              </a:defRPr>
            </a:pPr>
            <a:r>
              <a:rPr sz="975" b="1">
                <a:solidFill>
                  <a:srgbClr val="102B4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5549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AFF661-1DF3-4983-8741-D2144B2E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UTILITY: SUBJECT-DISJOINT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01211-D5E8-4CE3-BF69-AD801CA6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E"/>
                </a:solidFill>
              </a:defRPr>
            </a:pPr>
            <a:r>
              <a:rPr sz="2850" b="1">
                <a:solidFill>
                  <a:srgbClr val="102B4E"/>
                </a:solidFill>
              </a:rPr>
              <a:t>EAR-head 대비 유용성은 확보했습니다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98444-82A9-415A-8CAB-D03C388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A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254F4-C87D-4807-A497-8F59F641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8DD99-FE71-419E-91E2-DDAB79D6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6657A"/>
                </a:solidFill>
              </a:defRPr>
            </a:pPr>
            <a:r>
              <a:rPr sz="1725" b="0">
                <a:solidFill>
                  <a:srgbClr val="56657A"/>
                </a:solidFill>
              </a:rPr>
              <a:t>5-fold × 3 seed = 15개 독립 실행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9AF2B-81BE-4370-ACBB-A10279CC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35"/>
                </a:solidFill>
              </a:defRPr>
            </a:pPr>
            <a:r>
              <a:rPr sz="1350" b="1">
                <a:solidFill>
                  <a:srgbClr val="162235"/>
                </a:solidFill>
              </a:rPr>
              <a:t>ours  |  vpres D=16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D4C8C-9B35-4AB4-B3E3-36A57FF9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533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F6F8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56CF4-0C90-4640-B893-D037EFA4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5273192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EAA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6D3A1-0335-41E6-9F55-27371D9D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241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E"/>
                </a:solidFill>
              </a:defRPr>
            </a:pPr>
            <a:r>
              <a:rPr sz="1500" b="1">
                <a:solidFill>
                  <a:srgbClr val="102B4E"/>
                </a:solidFill>
              </a:rPr>
              <a:t>0.9886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E88C7-5F30-4547-A65B-DAB2B97E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35"/>
                </a:solidFill>
              </a:defRPr>
            </a:pPr>
            <a:r>
              <a:rPr sz="1350" b="1">
                <a:solidFill>
                  <a:srgbClr val="162235"/>
                </a:solidFill>
              </a:rPr>
              <a:t>EAR-head  |  동일 시간 판정 헤드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A9308-50F1-4A9F-B9F1-25118EA1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533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F6F8F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4488-EF25-4BFF-BDED-6039CE8E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5186782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78"/>
          </a:solidFill>
          <a:ln xmlns:a="http://schemas.openxmlformats.org/drawingml/2006/main" w="9525">
            <a:solidFill>
              <a:srgbClr val="2E7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08A82-0598-4E1C-BAA6-D0EB1C8D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052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E"/>
                </a:solidFill>
              </a:defRPr>
            </a:pPr>
            <a:r>
              <a:rPr sz="1500" b="1">
                <a:solidFill>
                  <a:srgbClr val="102B4E"/>
                </a:solidFill>
              </a:rPr>
              <a:t>0.9724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EC3B6-641E-4D8C-98D1-075C4F73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235"/>
                </a:solidFill>
              </a:defRPr>
            </a:pPr>
            <a:r>
              <a:rPr sz="1350" b="1">
                <a:solidFill>
                  <a:srgbClr val="162235"/>
                </a:solidFill>
              </a:rPr>
              <a:t>EAR rule  |  규칙 기반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85EBA-474B-4E88-AC12-931779FA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533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F6F8F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ADD21-6661-409F-A134-3FEE6CF6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379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8A20"/>
          </a:solidFill>
          <a:ln xmlns:a="http://schemas.openxmlformats.org/drawingml/2006/main" w="9525">
            <a:solidFill>
              <a:srgbClr val="C18A2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D5F24-16D2-44B7-AA81-DA7BB124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86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E"/>
                </a:solidFill>
              </a:defRPr>
            </a:pPr>
            <a:r>
              <a:rPr sz="1500" b="1">
                <a:solidFill>
                  <a:srgbClr val="102B4E"/>
                </a:solidFill>
              </a:rPr>
              <a:t>0.8931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E11B9-18FE-48AF-9C09-D61D786B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09800"/>
            <a:ext cx="38100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EAF1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6B521-EC72-4FF1-8BA6-C4C2B5D0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6657A"/>
                </a:solidFill>
              </a:defRPr>
            </a:pPr>
            <a:r>
              <a:rPr sz="1350" b="1">
                <a:solidFill>
                  <a:srgbClr val="56657A"/>
                </a:solidFill>
              </a:rPr>
              <a:t>정식 비교: ours − EAR-head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F7879-1159-4782-A665-96934542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02B4E"/>
                </a:solidFill>
              </a:defRPr>
            </a:pPr>
            <a:r>
              <a:rPr sz="3600" b="1">
                <a:solidFill>
                  <a:srgbClr val="102B4E"/>
                </a:solidFill>
              </a:rPr>
              <a:t>+0.0151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1817CB-8C77-491E-A743-150ACB76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33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5EAA"/>
                </a:solidFill>
              </a:defRPr>
            </a:pPr>
            <a:r>
              <a:rPr sz="1350" b="1">
                <a:solidFill>
                  <a:srgbClr val="2E5EAA"/>
                </a:solidFill>
              </a:rPr>
              <a:t>95% CI  [+0.0106, +0.0203]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01B1F4-7E07-4469-88A5-70FC4241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7D78"/>
                </a:solidFill>
              </a:defRPr>
            </a:pPr>
            <a:r>
              <a:rPr sz="1275" b="1">
                <a:solidFill>
                  <a:srgbClr val="2E7D78"/>
                </a:solidFill>
              </a:rPr>
              <a:t>δ = 0.02 기준: superior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0C7996-4E2E-4439-BD62-256787E3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E"/>
                </a:solidFill>
              </a:defRPr>
            </a:pPr>
            <a:r>
              <a:rPr sz="1500" b="1">
                <a:solidFill>
                  <a:srgbClr val="102B4E"/>
                </a:solidFill>
              </a:rPr>
              <a:t>해석: 같은 시간 판정 헤드와 비교해 얻은 차이입니다. 다만 안경 하위군은 표본이 작아 별도 결론을 내리지 않습니다.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B61B1C-357B-4299-A47F-4A46013E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EDFE13-0869-45A9-A792-9C074827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57A"/>
                </a:solidFill>
              </a:defRPr>
            </a:pPr>
            <a:r>
              <a:rPr sz="900" b="0">
                <a:solidFill>
                  <a:srgbClr val="56657A"/>
                </a:solidFill>
              </a:rPr>
              <a:t>Source: results/v2/train_encoder.json; results/v2/posthoc_subgroups.json; docs/v2/PROTOCOL.md §0, §9.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98F12E-9C84-4530-8BD7-D348558D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B4E"/>
                </a:solidFill>
              </a:defRPr>
            </a:pPr>
            <a:r>
              <a:rPr sz="975" b="1">
                <a:solidFill>
                  <a:srgbClr val="102B4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0975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090D26-EEC2-44B8-85BE-689E26F7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PRIVACY AUDIT: RE-IDENTIFICATION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A5DB6-B217-412D-A8C6-0E93EF89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E"/>
                </a:solidFill>
              </a:defRPr>
            </a:pPr>
            <a:r>
              <a:rPr sz="2850" b="1">
                <a:solidFill>
                  <a:srgbClr val="102B4E"/>
                </a:solidFill>
              </a:rPr>
              <a:t>학습된 16차원 벡터는 신원을 억제하지 못했습니다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0042A-9E17-4E67-90DA-AB68B7BB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A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B627C-6B00-4697-A44F-7CFB096E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0AA7A-13C2-427D-ABA3-1142245E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57A"/>
                </a:solidFill>
              </a:defRPr>
            </a:pPr>
            <a:r>
              <a:rPr sz="1575" b="0">
                <a:solidFill>
                  <a:srgbClr val="56657A"/>
                </a:solidFill>
              </a:rPr>
              <a:t>57-way 시간 블록 MLP · 균형 표집 · chance = 0.0175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9726D-597E-4BD9-A015-2297006F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235"/>
                </a:solidFill>
              </a:defRPr>
            </a:pPr>
            <a:r>
              <a:rPr sz="1275" b="0">
                <a:solidFill>
                  <a:srgbClr val="162235"/>
                </a:solidFill>
              </a:rPr>
              <a:t>원본 픽셀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5A395-4D4C-44F5-8FCC-1ABD73CE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19350"/>
            <a:ext cx="4762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F6F8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E1001-3316-49F0-B4B0-E0065EDF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19350"/>
            <a:ext cx="43243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 w="9525">
            <a:solidFill>
              <a:srgbClr val="102B4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51018-DC1D-41BD-AA16-BA435953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8125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B4E"/>
                </a:solidFill>
              </a:defRPr>
            </a:pPr>
            <a:r>
              <a:rPr sz="1350" b="1">
                <a:solidFill>
                  <a:srgbClr val="102B4E"/>
                </a:solidFill>
              </a:rPr>
              <a:t>0.9080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54912-14C8-4102-92E9-EE58D342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235"/>
                </a:solidFill>
              </a:defRPr>
            </a:pPr>
            <a:r>
              <a:rPr sz="1275" b="0">
                <a:solidFill>
                  <a:srgbClr val="162235"/>
                </a:solidFill>
              </a:rPr>
              <a:t>PCA-32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44BBE-956C-4173-ABC1-5E23EE51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4762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F6F8F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3627D-707C-404C-89CC-4D9B2986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4128611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EAA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361F6-9E9A-4A3D-9D51-57EF3CAC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3845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B4E"/>
                </a:solidFill>
              </a:defRPr>
            </a:pPr>
            <a:r>
              <a:rPr sz="1350" b="1">
                <a:solidFill>
                  <a:srgbClr val="102B4E"/>
                </a:solidFill>
              </a:rPr>
              <a:t>0.8669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E8C0D-1981-4AC8-AC8A-9BE0E3AF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235"/>
                </a:solidFill>
              </a:defRPr>
            </a:pPr>
            <a:r>
              <a:rPr sz="1275" b="1">
                <a:solidFill>
                  <a:srgbClr val="162235"/>
                </a:solidFill>
              </a:rPr>
              <a:t>ours  |  vpres D=16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20DBD-908D-4CDC-93E9-92790890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4762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F6F8F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0DFF7-3750-4BDD-BA48-B4F11986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3021806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4B4B"/>
          </a:solidFill>
          <a:ln xmlns:a="http://schemas.openxmlformats.org/drawingml/2006/main" w="9525">
            <a:solidFill>
              <a:srgbClr val="B94B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DFC57-D053-4B29-96FA-9A3DE65D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9565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B4E"/>
                </a:solidFill>
              </a:defRPr>
            </a:pPr>
            <a:r>
              <a:rPr sz="1350" b="1">
                <a:solidFill>
                  <a:srgbClr val="102B4E"/>
                </a:solidFill>
              </a:rPr>
              <a:t>0.6345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4180D-C6C0-472B-82E0-EB927EA9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235"/>
                </a:solidFill>
              </a:defRPr>
            </a:pPr>
            <a:r>
              <a:rPr sz="1275" b="0">
                <a:solidFill>
                  <a:srgbClr val="162235"/>
                </a:solidFill>
              </a:rPr>
              <a:t>랜덤 인코더 D=16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ABA085-F660-4CC5-9A02-076C32C2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4762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F6F8F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2D2F3-E05C-4C74-B7DF-33A5683C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2981801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18A20"/>
          </a:solidFill>
          <a:ln xmlns:a="http://schemas.openxmlformats.org/drawingml/2006/main" w="9525">
            <a:solidFill>
              <a:srgbClr val="C18A2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9ED339-3AB4-43D6-AD4D-49CA0D84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5285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B4E"/>
                </a:solidFill>
              </a:defRPr>
            </a:pPr>
            <a:r>
              <a:rPr sz="1350" b="1">
                <a:solidFill>
                  <a:srgbClr val="102B4E"/>
                </a:solidFill>
              </a:rPr>
              <a:t>0.6261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AE0A8D-D557-4B6F-BFEB-CC2E5F7C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235"/>
                </a:solidFill>
              </a:defRPr>
            </a:pPr>
            <a:r>
              <a:rPr sz="1275" b="0">
                <a:solidFill>
                  <a:srgbClr val="162235"/>
                </a:solidFill>
              </a:rPr>
              <a:t>광학 3차원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735EE7-CFA8-4418-83DC-EE68D6E9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48150"/>
            <a:ext cx="4762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F6F8F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0F5EE6-F161-42FC-A5D4-2B7570D8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48150"/>
            <a:ext cx="392906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78"/>
          </a:solidFill>
          <a:ln xmlns:a="http://schemas.openxmlformats.org/drawingml/2006/main" w="9525">
            <a:solidFill>
              <a:srgbClr val="2E7D7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555DD9-E581-49BE-8783-7999D293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1005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B4E"/>
                </a:solidFill>
              </a:defRPr>
            </a:pPr>
            <a:r>
              <a:rPr sz="1350" b="1">
                <a:solidFill>
                  <a:srgbClr val="102B4E"/>
                </a:solidFill>
              </a:rPr>
              <a:t>0.0825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487B28-E0FD-4C70-9D25-A59CEEFD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66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235"/>
                </a:solidFill>
              </a:defRPr>
            </a:pPr>
            <a:r>
              <a:rPr sz="1275" b="0">
                <a:solidFill>
                  <a:srgbClr val="162235"/>
                </a:solidFill>
              </a:rPr>
              <a:t>EAR 스칼라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EA9979-0185-45B9-8BFF-C5A3FB6A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05350"/>
            <a:ext cx="4762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F6F8F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F998E5-9F4C-445D-8568-C4C94803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05350"/>
            <a:ext cx="26098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657A"/>
          </a:solidFill>
          <a:ln xmlns:a="http://schemas.openxmlformats.org/drawingml/2006/main" w="9525">
            <a:solidFill>
              <a:srgbClr val="56657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B12737-AE76-45D3-B850-1782D83E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67250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2B4E"/>
                </a:solidFill>
              </a:defRPr>
            </a:pPr>
            <a:r>
              <a:rPr sz="1350" b="1">
                <a:solidFill>
                  <a:srgbClr val="102B4E"/>
                </a:solidFill>
              </a:rPr>
              <a:t>0.0548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E0988C-ABCB-4B2C-B732-2A2AA045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09800"/>
            <a:ext cx="1885950" cy="27241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EAF1F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436714-ADDB-4EF3-B873-FB12081E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908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E5EAA"/>
                </a:solidFill>
              </a:defRPr>
            </a:pPr>
            <a:r>
              <a:rPr sz="1425" b="1">
                <a:solidFill>
                  <a:srgbClr val="2E5EAA"/>
                </a:solidFill>
              </a:rPr>
              <a:t>핵심 해석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2087E2-707D-44EC-9953-C2ABFD9D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B4E"/>
                </a:solidFill>
              </a:defRPr>
            </a:pPr>
            <a:r>
              <a:rPr sz="1725" b="1">
                <a:solidFill>
                  <a:srgbClr val="102B4E"/>
                </a:solidFill>
              </a:rPr>
              <a:t>학습 전 랜덤</a:t>
            </a:r>
          </a:p>
          <a:p xmlns:a="http://schemas.openxmlformats.org/drawingml/2006/main">
            <a:pPr algn="ctr">
              <a:defRPr sz="1725" b="1">
                <a:solidFill>
                  <a:srgbClr val="102B4E"/>
                </a:solidFill>
              </a:defRPr>
            </a:pPr>
            <a:r>
              <a:rPr sz="1725" b="1">
                <a:solidFill>
                  <a:srgbClr val="102B4E"/>
                </a:solidFill>
              </a:rPr>
              <a:t>인코더와 거의</a:t>
            </a:r>
          </a:p>
          <a:p xmlns:a="http://schemas.openxmlformats.org/drawingml/2006/main">
            <a:pPr algn="ctr">
              <a:defRPr sz="1725" b="1">
                <a:solidFill>
                  <a:srgbClr val="102B4E"/>
                </a:solidFill>
              </a:defRPr>
            </a:pPr>
            <a:r>
              <a:rPr sz="1725" b="1">
                <a:solidFill>
                  <a:srgbClr val="102B4E"/>
                </a:solidFill>
              </a:rPr>
              <a:t>같은 누출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08714A-199E-4EE3-B9BF-229BDFE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719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4B4B"/>
                </a:solidFill>
              </a:defRPr>
            </a:pPr>
            <a:r>
              <a:rPr sz="1200" b="1">
                <a:solidFill>
                  <a:srgbClr val="B94B4B"/>
                </a:solidFill>
              </a:rPr>
              <a:t>“프라이버시 개선”</a:t>
            </a:r>
          </a:p>
          <a:p xmlns:a="http://schemas.openxmlformats.org/drawingml/2006/main">
            <a:pPr algn="ctr">
              <a:defRPr sz="1200" b="1">
                <a:solidFill>
                  <a:srgbClr val="B94B4B"/>
                </a:solidFill>
              </a:defRPr>
            </a:pPr>
            <a:r>
              <a:rPr sz="1200" b="1">
                <a:solidFill>
                  <a:srgbClr val="B94B4B"/>
                </a:solidFill>
              </a:rPr>
              <a:t>주장 불가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7AFC8C-C055-4483-AEFD-7A30AFDB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B4E"/>
                </a:solidFill>
              </a:defRPr>
            </a:pPr>
            <a:r>
              <a:rPr sz="1500" b="1">
                <a:solidFill>
                  <a:srgbClr val="102B4E"/>
                </a:solidFill>
              </a:rPr>
              <a:t>집계 공격: 관측 1개 0.9139 → 10개 0.9960 → 100개 1.0000.  차원 축소는 억제 기전이 아닙니다.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CF27AB-0B02-403D-9EB8-53336F38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72A318-E33F-4C5F-9B06-D123BBEA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57A"/>
                </a:solidFill>
              </a:defRPr>
            </a:pPr>
            <a:r>
              <a:rPr sz="900" b="0">
                <a:solidFill>
                  <a:srgbClr val="56657A"/>
                </a:solidFill>
              </a:rPr>
              <a:t>Source: results/v2/phase5_reid.json; docs/v2/PROTOCOL.md §0, Phase 5.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0EEAA5-036D-436F-9164-531915E9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B4E"/>
                </a:solidFill>
              </a:defRPr>
            </a:pPr>
            <a:r>
              <a:rPr sz="975" b="1">
                <a:solidFill>
                  <a:srgbClr val="102B4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7429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D40422-40D8-469C-AFDA-98FDF7E4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REPRODUCIBILITY AND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E0C2B-86A4-4B9D-858B-76E015A2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E"/>
                </a:solidFill>
              </a:defRPr>
            </a:pPr>
            <a:r>
              <a:rPr sz="2850" b="1">
                <a:solidFill>
                  <a:srgbClr val="102B4E"/>
                </a:solidFill>
              </a:rPr>
              <a:t>평가 규칙을 먼저 고정하고 9개 게이트를 통과했습니다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E13C8-EBD5-4409-82FC-E20249CD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A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A20C0-80E1-4CA3-9A82-354A53BD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8269D1-56F0-4E67-B4A1-F458E006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3241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9D0F8-1CE4-4ABC-B80C-C0E89ADA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B4E"/>
                </a:solidFill>
              </a:defRPr>
            </a:pPr>
            <a:r>
              <a:rPr sz="1650" b="1">
                <a:solidFill>
                  <a:srgbClr val="102B4E"/>
                </a:solidFill>
              </a:rPr>
              <a:t>격자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DAFBC-1A8C-4EB5-8347-CDFBCFFF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57A"/>
                </a:solidFill>
              </a:defRPr>
            </a:pPr>
            <a:r>
              <a:rPr sz="1275" b="0">
                <a:solidFill>
                  <a:srgbClr val="56657A"/>
                </a:solidFill>
              </a:rPr>
              <a:t>저 false-alarm 영역을</a:t>
            </a:r>
          </a:p>
          <a:p xmlns:a="http://schemas.openxmlformats.org/drawingml/2006/main">
            <a:pPr algn="ctr">
              <a:defRPr sz="1275" b="0">
                <a:solidFill>
                  <a:srgbClr val="56657A"/>
                </a:solidFill>
              </a:defRPr>
            </a:pPr>
            <a:r>
              <a:rPr sz="1275" b="0">
                <a:solidFill>
                  <a:srgbClr val="56657A"/>
                </a:solidFill>
              </a:rPr>
              <a:t>40,001개 후보로 탐색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3FA44-9015-48A7-89FF-362F7F08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78"/>
                </a:solidFill>
              </a:defRPr>
            </a:pPr>
            <a:r>
              <a:rPr sz="1350" b="1">
                <a:solidFill>
                  <a:srgbClr val="2E7D78"/>
                </a:solidFill>
              </a:rPr>
              <a:t>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305B5-BACD-459A-AD2B-3A7A1CAC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23241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67A75-54D1-49CB-9FDA-B6A4FCA7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193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B4E"/>
                </a:solidFill>
              </a:defRPr>
            </a:pPr>
            <a:r>
              <a:rPr sz="1650" b="1">
                <a:solidFill>
                  <a:srgbClr val="102B4E"/>
                </a:solidFill>
              </a:rPr>
              <a:t>분할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EF559-F1BD-4237-8149-3FDF88C3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956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57A"/>
                </a:solidFill>
              </a:defRPr>
            </a:pPr>
            <a:r>
              <a:rPr sz="1275" b="0">
                <a:solidFill>
                  <a:srgbClr val="56657A"/>
                </a:solidFill>
              </a:rPr>
              <a:t>이벤트 수 + 수집 배치</a:t>
            </a:r>
          </a:p>
          <a:p xmlns:a="http://schemas.openxmlformats.org/drawingml/2006/main">
            <a:pPr algn="ctr">
              <a:defRPr sz="1275" b="0">
                <a:solidFill>
                  <a:srgbClr val="56657A"/>
                </a:solidFill>
              </a:defRPr>
            </a:pPr>
            <a:r>
              <a:rPr sz="1275" b="0">
                <a:solidFill>
                  <a:srgbClr val="56657A"/>
                </a:solidFill>
              </a:rPr>
              <a:t>이중 층화·피험자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A3339-C165-4CFE-BC00-15A332A7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909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78"/>
                </a:solidFill>
              </a:defRPr>
            </a:pPr>
            <a:r>
              <a:rPr sz="1350" b="1">
                <a:solidFill>
                  <a:srgbClr val="2E7D78"/>
                </a:solidFill>
              </a:rPr>
              <a:t>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75D832-79D1-4AFC-8AAC-FBC277F2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23241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1FD7C-953B-4AA6-B20B-31F991A7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B4E"/>
                </a:solidFill>
              </a:defRPr>
            </a:pPr>
            <a:r>
              <a:rPr sz="1650" b="1">
                <a:solidFill>
                  <a:srgbClr val="102B4E"/>
                </a:solidFill>
              </a:rPr>
              <a:t>선택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DAF95-27F5-4355-8F9C-BA389A9E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57A"/>
                </a:solidFill>
              </a:defRPr>
            </a:pPr>
            <a:r>
              <a:rPr sz="1275" b="0">
                <a:solidFill>
                  <a:srgbClr val="56657A"/>
                </a:solidFill>
              </a:rPr>
              <a:t>validation에서 선택하고</a:t>
            </a:r>
          </a:p>
          <a:p xmlns:a="http://schemas.openxmlformats.org/drawingml/2006/main">
            <a:pPr algn="ctr">
              <a:defRPr sz="1275" b="0">
                <a:solidFill>
                  <a:srgbClr val="56657A"/>
                </a:solidFill>
              </a:defRPr>
            </a:pPr>
            <a:r>
              <a:rPr sz="1275" b="0">
                <a:solidFill>
                  <a:srgbClr val="56657A"/>
                </a:solidFill>
              </a:rPr>
              <a:t>test에서만 보고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8EC90-4643-415F-B6D2-49470579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78"/>
                </a:solidFill>
              </a:defRPr>
            </a:pPr>
            <a:r>
              <a:rPr sz="1350" b="1">
                <a:solidFill>
                  <a:srgbClr val="2E7D78"/>
                </a:solidFill>
              </a:rPr>
              <a:t>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DAA22-2AB3-482E-BA63-1EE2E4F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33600"/>
            <a:ext cx="23241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DA167-C192-41C5-ACD9-2D98A7BD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193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B4E"/>
                </a:solidFill>
              </a:defRPr>
            </a:pPr>
            <a:r>
              <a:rPr sz="1650" b="1">
                <a:solidFill>
                  <a:srgbClr val="102B4E"/>
                </a:solidFill>
              </a:rPr>
              <a:t>결정성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C9490-FF64-4F05-901C-2DEF8C62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95600"/>
            <a:ext cx="1943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57A"/>
                </a:solidFill>
              </a:defRPr>
            </a:pPr>
            <a:r>
              <a:rPr sz="1275" b="0">
                <a:solidFill>
                  <a:srgbClr val="56657A"/>
                </a:solidFill>
              </a:rPr>
              <a:t>실제 인코더까지</a:t>
            </a:r>
          </a:p>
          <a:p xmlns:a="http://schemas.openxmlformats.org/drawingml/2006/main">
            <a:pPr algn="ctr">
              <a:defRPr sz="1275" b="0">
                <a:solidFill>
                  <a:srgbClr val="56657A"/>
                </a:solidFill>
              </a:defRPr>
            </a:pPr>
            <a:r>
              <a:rPr sz="1275" b="0">
                <a:solidFill>
                  <a:srgbClr val="56657A"/>
                </a:solidFill>
              </a:rPr>
              <a:t>같은 시드 bit-identical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47DA5-ECDB-4EB8-AF89-1E5F2017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90950"/>
            <a:ext cx="194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78"/>
                </a:solidFill>
              </a:defRPr>
            </a:pPr>
            <a:r>
              <a:rPr sz="1350" b="1">
                <a:solidFill>
                  <a:srgbClr val="2E7D78"/>
                </a:solidFill>
              </a:rPr>
              <a:t>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6E1102-B92A-4D98-B7D4-87E8506E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06C68-B567-44C1-950A-2D1AE491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B4E"/>
                </a:solidFill>
              </a:defRPr>
            </a:pPr>
            <a:r>
              <a:rPr sz="1575" b="1">
                <a:solidFill>
                  <a:srgbClr val="102B4E"/>
                </a:solidFill>
              </a:rPr>
              <a:t>Phase −1 gate 9/9 PASS  |  GPU·seed·데이터를 포함한 실제 인코더 결정성까지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F2907F-FAC9-4EA3-B9B2-852AAB68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81700"/>
            <a:ext cx="10334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57A"/>
                </a:solidFill>
              </a:defRPr>
            </a:pPr>
            <a:r>
              <a:rPr sz="1275" b="0">
                <a:solidFill>
                  <a:srgbClr val="56657A"/>
                </a:solidFill>
              </a:rPr>
              <a:t>단, 학습 원점수 보존과 깨끗한 커밋 상태는 다음 전체 재실행에서 더 강하게 봉인해야 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51EBB-5F85-4697-B952-7045C66B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7A8C8D-D7EB-4B0E-BBA5-775EEB3F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57A"/>
                </a:solidFill>
              </a:defRPr>
            </a:pPr>
            <a:r>
              <a:rPr sz="900" b="0">
                <a:solidFill>
                  <a:srgbClr val="56657A"/>
                </a:solidFill>
              </a:rPr>
              <a:t>Source: results/v2/gate_minus1.json; docs/v2/PROTOCOL.md §§1–5, §11.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0280F-86E2-43A3-9596-375A1B1F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B4E"/>
                </a:solidFill>
              </a:defRPr>
            </a:pPr>
            <a:r>
              <a:rPr sz="975" b="1">
                <a:solidFill>
                  <a:srgbClr val="102B4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2630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6D3A2-D6F5-4FBA-BF3E-6D93D093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HONEST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E839C-682A-4DAC-B118-91874997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E"/>
                </a:solidFill>
              </a:defRPr>
            </a:pPr>
            <a:r>
              <a:rPr sz="2850" b="1">
                <a:solidFill>
                  <a:srgbClr val="102B4E"/>
                </a:solidFill>
              </a:rPr>
              <a:t>현재 기준선이 말하는 것과 말하지 못하는 것을 분리합니다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90026-AEAB-4C28-9E3D-01A2C636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A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4C106-F452-4ED3-A9EC-F8C88323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E31E2-79AF-40E2-B4EE-0781FB77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9530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EAF1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1B338-67FC-4602-A5DB-E2C4D9C0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5EAA"/>
                </a:solidFill>
              </a:defRPr>
            </a:pPr>
            <a:r>
              <a:rPr sz="1650" b="1">
                <a:solidFill>
                  <a:srgbClr val="2E5EAA"/>
                </a:solidFill>
              </a:rPr>
              <a:t>이번 라운드에서 말할 수 있는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4FE70-FD20-4BD9-85EE-F57C8D84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4171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235"/>
                </a:solidFill>
              </a:defRPr>
            </a:pPr>
            <a:r>
              <a:rPr sz="1500" b="0">
                <a:solidFill>
                  <a:srgbClr val="162235"/>
                </a:solidFill>
              </a:rPr>
              <a:t>• EAR-head와 같은 판정 조건에서 utility 확보</a:t>
            </a:r>
          </a:p>
          <a:p xmlns:a="http://schemas.openxmlformats.org/drawingml/2006/main">
            <a:pPr algn="l">
              <a:defRPr sz="1500" b="0">
                <a:solidFill>
                  <a:srgbClr val="162235"/>
                </a:solidFill>
              </a:defRPr>
            </a:pPr>
            <a:r>
              <a:rPr sz="1500" b="0">
                <a:solidFill>
                  <a:srgbClr val="162235"/>
                </a:solidFill>
              </a:rPr>
              <a:t>• 16차원 표현의 신원 누출을 정량화</a:t>
            </a:r>
          </a:p>
          <a:p xmlns:a="http://schemas.openxmlformats.org/drawingml/2006/main">
            <a:pPr algn="l">
              <a:defRPr sz="1500" b="0">
                <a:solidFill>
                  <a:srgbClr val="162235"/>
                </a:solidFill>
              </a:defRPr>
            </a:pPr>
            <a:r>
              <a:rPr sz="1500" b="0">
                <a:solidFill>
                  <a:srgbClr val="162235"/>
                </a:solidFill>
              </a:rPr>
              <a:t>• 학습이 누출을 줄이지 못함을 기준선과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36BA3-C8AB-49A7-A044-5FF27357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19300"/>
            <a:ext cx="49530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F6F8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4242E-D676-47A2-B633-4509A928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4B4B"/>
                </a:solidFill>
              </a:defRPr>
            </a:pPr>
            <a:r>
              <a:rPr sz="1650" b="1">
                <a:solidFill>
                  <a:srgbClr val="B94B4B"/>
                </a:solidFill>
              </a:rPr>
              <a:t>아직 말하면 안 되는 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D0883-D61C-420A-884B-35DA928F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14650"/>
            <a:ext cx="4171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235"/>
                </a:solidFill>
              </a:defRPr>
            </a:pPr>
            <a:r>
              <a:rPr sz="1500" b="0">
                <a:solidFill>
                  <a:srgbClr val="162235"/>
                </a:solidFill>
              </a:rPr>
              <a:t>• 프라이버시가 확보되었다</a:t>
            </a:r>
          </a:p>
          <a:p xmlns:a="http://schemas.openxmlformats.org/drawingml/2006/main">
            <a:pPr algn="l">
              <a:defRPr sz="1500" b="0">
                <a:solidFill>
                  <a:srgbClr val="162235"/>
                </a:solidFill>
              </a:defRPr>
            </a:pPr>
            <a:r>
              <a:rPr sz="1500" b="0">
                <a:solidFill>
                  <a:srgbClr val="162235"/>
                </a:solidFill>
              </a:rPr>
              <a:t>• 안경군에서 우월하다</a:t>
            </a:r>
          </a:p>
          <a:p xmlns:a="http://schemas.openxmlformats.org/drawingml/2006/main">
            <a:pPr algn="l">
              <a:defRPr sz="1500" b="0">
                <a:solidFill>
                  <a:srgbClr val="162235"/>
                </a:solidFill>
              </a:defRPr>
            </a:pPr>
            <a:r>
              <a:rPr sz="1500" b="0">
                <a:solidFill>
                  <a:srgbClr val="162235"/>
                </a:solidFill>
              </a:rPr>
              <a:t>• v2가 Pi5 30 fps를 만족한다</a:t>
            </a:r>
          </a:p>
          <a:p xmlns:a="http://schemas.openxmlformats.org/drawingml/2006/main">
            <a:pPr algn="l">
              <a:defRPr sz="1500" b="0">
                <a:solidFill>
                  <a:srgbClr val="162235"/>
                </a:solidFill>
              </a:defRPr>
            </a:pPr>
            <a:r>
              <a:rPr sz="1500" b="0">
                <a:solidFill>
                  <a:srgbClr val="162235"/>
                </a:solidFill>
              </a:rPr>
              <a:t>• 표현 학습의 기여가 완전히 분리되었다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CC406-A4C1-42B2-B15C-C1A601AB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B4E"/>
                </a:solidFill>
              </a:defRPr>
            </a:pPr>
            <a:r>
              <a:rPr sz="1650" b="1">
                <a:solidFill>
                  <a:srgbClr val="102B4E"/>
                </a:solidFill>
              </a:rPr>
              <a:t>따라서 다음 논문의 메시지는 “프라이버시 해결”이 아니라 “유용성·누출을 같은 조건에서 측정한 기준선”입니다.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371B7-EAEF-4079-8894-33AFBB8E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4EEEB-CCA5-4ADA-832C-5F440558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57A"/>
                </a:solidFill>
              </a:defRPr>
            </a:pPr>
            <a:r>
              <a:rPr sz="900" b="0">
                <a:solidFill>
                  <a:srgbClr val="56657A"/>
                </a:solidFill>
              </a:rPr>
              <a:t>Source: docs/v2/PROTOCOL.md §0, §§9–13; results/v2/posthoc_subgroups.json; docs/PI5_BENCHMARK.md.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97C40-0DF9-41C7-A898-B63DA1E7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B4E"/>
                </a:solidFill>
              </a:defRPr>
            </a:pPr>
            <a:r>
              <a:rPr sz="975" b="1">
                <a:solidFill>
                  <a:srgbClr val="102B4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882243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47A260-496A-47BB-BA66-9911FEB9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NEXT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1D7DF-B820-4C7D-9160-A19C7E9B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B4E"/>
                </a:solidFill>
              </a:defRPr>
            </a:pPr>
            <a:r>
              <a:rPr sz="2850" b="1">
                <a:solidFill>
                  <a:srgbClr val="102B4E"/>
                </a:solidFill>
              </a:rPr>
              <a:t>다음은 “배포 가능성”과 “억제 필요성”을 분리해 닫는 일입니다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3CBA4A-024F-4779-96B3-5EF11CA6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AA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5CDA3-22B6-4F7B-BBEE-A64D6284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E5EAA"/>
                </a:solidFill>
              </a:defRPr>
            </a:pPr>
            <a:r>
              <a:rPr sz="1050" b="1">
                <a:solidFill>
                  <a:srgbClr val="2E5EAA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9D1F9-2CBE-4B0B-BD75-D73C1439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5EAA"/>
                </a:solidFill>
              </a:defRPr>
            </a:pPr>
            <a:r>
              <a:rPr sz="2100" b="1">
                <a:solidFill>
                  <a:srgbClr val="2E5EAA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BBDD0-E25B-486C-9264-2D43A2A1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2E5EA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93664-37AE-4313-95BC-F1F9ABCA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4E"/>
                </a:solidFill>
              </a:defRPr>
            </a:pPr>
            <a:r>
              <a:rPr sz="1650" b="1">
                <a:solidFill>
                  <a:srgbClr val="102B4E"/>
                </a:solidFill>
              </a:rPr>
              <a:t>Phase 6 · Pi5 재측정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0A86E-1FF5-417D-BE40-31C9B5D7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57A"/>
                </a:solidFill>
              </a:defRPr>
            </a:pPr>
            <a:r>
              <a:rPr sz="1350" b="0">
                <a:solidFill>
                  <a:srgbClr val="56657A"/>
                </a:solidFill>
              </a:rPr>
              <a:t>vpres D=16, 1280×720에서</a:t>
            </a:r>
          </a:p>
          <a:p xmlns:a="http://schemas.openxmlformats.org/drawingml/2006/main">
            <a:pPr algn="l">
              <a:defRPr sz="1350" b="0">
                <a:solidFill>
                  <a:srgbClr val="56657A"/>
                </a:solidFill>
              </a:defRPr>
            </a:pPr>
            <a:r>
              <a:rPr sz="1350" b="0">
                <a:solidFill>
                  <a:srgbClr val="56657A"/>
                </a:solidFill>
              </a:rPr>
              <a:t>p99 e2e ≤ 33.3 ms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3CDCF-A986-45D8-99EB-FCCD7538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574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5EAA"/>
                </a:solidFill>
              </a:defRPr>
            </a:pPr>
            <a:r>
              <a:rPr sz="2100" b="1">
                <a:solidFill>
                  <a:srgbClr val="2E5EA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FECB0-6CB1-4EB0-A58F-FB59524A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79CA5-044B-4B5E-B349-B9AB24B7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146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4E"/>
                </a:solidFill>
              </a:defRPr>
            </a:pPr>
            <a:r>
              <a:rPr sz="1650" b="1">
                <a:solidFill>
                  <a:srgbClr val="102B4E"/>
                </a:solidFill>
              </a:rPr>
              <a:t>대조군 2·3·4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EA66A-AD1D-41EC-A774-8E8AFC43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57A"/>
                </a:solidFill>
              </a:defRPr>
            </a:pPr>
            <a:r>
              <a:rPr sz="1350" b="0">
                <a:solidFill>
                  <a:srgbClr val="56657A"/>
                </a:solidFill>
              </a:rPr>
              <a:t>표현 자체와 학습 목적함수의</a:t>
            </a:r>
          </a:p>
          <a:p xmlns:a="http://schemas.openxmlformats.org/drawingml/2006/main">
            <a:pPr algn="l">
              <a:defRPr sz="1350" b="0">
                <a:solidFill>
                  <a:srgbClr val="56657A"/>
                </a:solidFill>
              </a:defRPr>
            </a:pPr>
            <a:r>
              <a:rPr sz="1350" b="0">
                <a:solidFill>
                  <a:srgbClr val="56657A"/>
                </a:solidFill>
              </a:rPr>
              <a:t>기여를 분리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2E447-0562-4280-9CC9-5DF32D39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574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5EAA"/>
                </a:solidFill>
              </a:defRPr>
            </a:pPr>
            <a:r>
              <a:rPr sz="2100" b="1">
                <a:solidFill>
                  <a:srgbClr val="2E5EAA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DC2A8-7445-4689-AF3D-AB9564C2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28900"/>
            <a:ext cx="3143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8FC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140CA-6F0B-46A5-993A-7C9E3128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B4E"/>
                </a:solidFill>
              </a:defRPr>
            </a:pPr>
            <a:r>
              <a:rPr sz="1650" b="1">
                <a:solidFill>
                  <a:srgbClr val="102B4E"/>
                </a:solidFill>
              </a:rPr>
              <a:t>신원 억제 방향 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B1D12-063D-4EBB-A6ED-5E728181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2647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57A"/>
                </a:solidFill>
              </a:defRPr>
            </a:pPr>
            <a:r>
              <a:rPr sz="1350" b="0">
                <a:solidFill>
                  <a:srgbClr val="56657A"/>
                </a:solidFill>
              </a:rPr>
              <a:t>현재 0.6345 → 목표 &lt; 0.086</a:t>
            </a:r>
          </a:p>
          <a:p xmlns:a="http://schemas.openxmlformats.org/drawingml/2006/main">
            <a:pPr algn="l">
              <a:defRPr sz="1350" b="0">
                <a:solidFill>
                  <a:srgbClr val="56657A"/>
                </a:solidFill>
              </a:defRPr>
            </a:pPr>
            <a:r>
              <a:rPr sz="1350" b="0">
                <a:solidFill>
                  <a:srgbClr val="56657A"/>
                </a:solidFill>
              </a:rPr>
              <a:t>박사님 확인 후 후속 연구로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96FBB-0F73-4D12-AFE2-29AE6D76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668B8-6544-4B0D-8C21-BFF9DD07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2B4E"/>
                </a:solidFill>
              </a:defRPr>
            </a:pPr>
            <a:r>
              <a:rPr sz="1875" b="1">
                <a:solidFill>
                  <a:srgbClr val="102B4E"/>
                </a:solidFill>
              </a:rPr>
              <a:t>랩미팅에서 필요한 판단:  기준선 결과를 제출 가능한 기여로 정리하고, 신원 억제는 다음 단계로 승인할 것인가?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79FB1B-6CCF-4600-A741-52F80991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E"/>
          </a:solidFill>
          <a:ln xmlns:a="http://schemas.openxmlformats.org/drawingml/2006/main" w="9525">
            <a:solidFill>
              <a:srgbClr val="D7E0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415070-80E0-4B20-B086-BC11DB04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57A"/>
                </a:solidFill>
              </a:defRPr>
            </a:pPr>
            <a:r>
              <a:rPr sz="900" b="0">
                <a:solidFill>
                  <a:srgbClr val="56657A"/>
                </a:solidFill>
              </a:rPr>
              <a:t>Source: docs/v2/PROTOCOL.md §0, §11; docs/PI5_BENCHMARK.md; docs/v2/HANDOFF.md.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4946C-9CE6-4AD3-AA11-515BF8E9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02B4E"/>
                </a:solidFill>
              </a:defRPr>
            </a:pPr>
            <a:r>
              <a:rPr sz="975" b="1">
                <a:solidFill>
                  <a:srgbClr val="102B4E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82610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2026-08-04T08:09:59.0970000Z</dcterms:created>
  <dcterms:modified xsi:type="dcterms:W3CDTF">2026-08-04T08:09:59.0970000Z</dcterms:modified>
</coreProperties>
</file>
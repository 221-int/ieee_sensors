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32688"/>
          </a:xfrm>
          <a:prstGeom prst="rect">
            <a:avLst/>
          </a:prstGeom>
          <a:solidFill>
            <a:srgbClr val="1F3A6B"/>
          </a:solidFill>
          <a:ln/>
        </p:spPr>
      </p:sp>
      <p:sp>
        <p:nvSpPr>
          <p:cNvPr id="3" name="Shape 1"/>
          <p:cNvSpPr/>
          <p:nvPr/>
        </p:nvSpPr>
        <p:spPr>
          <a:xfrm>
            <a:off x="0" y="0"/>
            <a:ext cx="3840480" cy="932688"/>
          </a:xfrm>
          <a:prstGeom prst="rect">
            <a:avLst/>
          </a:prstGeom>
          <a:solidFill>
            <a:srgbClr val="13264A"/>
          </a:solidFill>
          <a:ln/>
        </p:spPr>
      </p:sp>
      <p:sp>
        <p:nvSpPr>
          <p:cNvPr id="4" name="Text 2"/>
          <p:cNvSpPr/>
          <p:nvPr/>
        </p:nvSpPr>
        <p:spPr>
          <a:xfrm>
            <a:off x="502920" y="0"/>
            <a:ext cx="8229600" cy="932688"/>
          </a:xfrm>
          <a:prstGeom prst="rect">
            <a:avLst/>
          </a:prstGeom>
          <a:noFill/>
          <a:ln/>
        </p:spPr>
        <p:txBody>
          <a:bodyPr wrap="square" rtlCol="0" anchor="ctr"/>
          <a:lstStyle/>
          <a:p>
            <a:pPr algn="l" indent="0" marL="0">
              <a:buNone/>
            </a:pPr>
            <a:r>
              <a:rPr lang="en-US" sz="3000" b="1" dirty="0">
                <a:solidFill>
                  <a:srgbClr val="FFFFFF"/>
                </a:solidFill>
                <a:latin typeface="Malgun Gothic" pitchFamily="34" charset="0"/>
                <a:ea typeface="Malgun Gothic" pitchFamily="34" charset="-122"/>
                <a:cs typeface="Malgun Gothic" pitchFamily="34" charset="-120"/>
              </a:rPr>
              <a:t>Abstract</a:t>
            </a:r>
            <a:endParaRPr lang="en-US" sz="3000" dirty="0"/>
          </a:p>
        </p:txBody>
      </p:sp>
      <p:sp>
        <p:nvSpPr>
          <p:cNvPr id="5" name="Shape 3"/>
          <p:cNvSpPr/>
          <p:nvPr/>
        </p:nvSpPr>
        <p:spPr>
          <a:xfrm>
            <a:off x="11018520" y="6144768"/>
            <a:ext cx="868680" cy="502920"/>
          </a:xfrm>
          <a:prstGeom prst="rect">
            <a:avLst/>
          </a:prstGeom>
          <a:solidFill>
            <a:srgbClr val="1F3A6B"/>
          </a:solidFill>
          <a:ln/>
        </p:spPr>
      </p:sp>
      <p:sp>
        <p:nvSpPr>
          <p:cNvPr id="6" name="Text 4"/>
          <p:cNvSpPr/>
          <p:nvPr/>
        </p:nvSpPr>
        <p:spPr>
          <a:xfrm>
            <a:off x="11018520" y="6144768"/>
            <a:ext cx="868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SCH</a:t>
            </a:r>
            <a:endParaRPr lang="en-US" sz="1600" dirty="0"/>
          </a:p>
        </p:txBody>
      </p:sp>
      <p:sp>
        <p:nvSpPr>
          <p:cNvPr id="7" name="Text 5"/>
          <p:cNvSpPr/>
          <p:nvPr/>
        </p:nvSpPr>
        <p:spPr>
          <a:xfrm>
            <a:off x="640080" y="1325880"/>
            <a:ext cx="10881360" cy="2651760"/>
          </a:xfrm>
          <a:prstGeom prst="rect">
            <a:avLst/>
          </a:prstGeom>
          <a:noFill/>
          <a:ln/>
        </p:spPr>
        <p:txBody>
          <a:bodyPr wrap="square" rtlCol="0" anchor="t"/>
          <a:lstStyle/>
          <a:p>
            <a:pPr algn="l" indent="0" marL="0">
              <a:lnSpc>
                <a:spcPct val="128000"/>
              </a:lnSpc>
              <a:buNone/>
            </a:pPr>
            <a:r>
              <a:rPr lang="en-US" sz="1650" dirty="0">
                <a:solidFill>
                  <a:srgbClr val="222A35"/>
                </a:solidFill>
                <a:latin typeface="Malgun Gothic" pitchFamily="34" charset="0"/>
                <a:ea typeface="Malgun Gothic" pitchFamily="34" charset="-122"/>
                <a:cs typeface="Malgun Gothic" pitchFamily="34" charset="-120"/>
              </a:rPr>
              <a:t>눈 깜빡임 검출은 안구 피로도 평가, 졸음·피로 모니터링, HCI 등에 활용되는 핵심 기술이나, 기존 엣지 기반 방식은 무거운 객체 검출망과 배치 처리에 의존해 저전력 디바이스에서 프레임 단위 실시간성을 확보하기 어렵고, 모든 피험자에 동일한 고정 임계값을 적용해 개인별 안구 특성 편차에 취약하다. 본 연구는 Raspberry Pi 5 상에서 동작하는 경량 실시간 눈 깜빡임 검출 시스템을 제안한다. 제안 시스템은 (1) MediaPipe 랜드마크와 EAR 기반의 STD 4단계 상태머신, (2) 구동 직전 개안·폐안 EAR 통계로 임계값을 산출하는 피험자별 캘리브레이션, (3) 눈 영역 픽셀 품질이 임계 이하일 때만 눈 ROI에 경량 초해상화(SR)를 적용하는 조건부 게이트로 구성된다.</a:t>
            </a:r>
            <a:endParaRPr lang="en-US" sz="1650" dirty="0"/>
          </a:p>
        </p:txBody>
      </p:sp>
      <p:sp>
        <p:nvSpPr>
          <p:cNvPr id="8" name="Text 6"/>
          <p:cNvSpPr/>
          <p:nvPr/>
        </p:nvSpPr>
        <p:spPr>
          <a:xfrm>
            <a:off x="640080" y="4160520"/>
            <a:ext cx="10881360" cy="2103120"/>
          </a:xfrm>
          <a:prstGeom prst="rect">
            <a:avLst/>
          </a:prstGeom>
          <a:noFill/>
          <a:ln/>
        </p:spPr>
        <p:txBody>
          <a:bodyPr wrap="square" rtlCol="0" anchor="t"/>
          <a:lstStyle/>
          <a:p>
            <a:pPr algn="l" indent="0" marL="0">
              <a:lnSpc>
                <a:spcPct val="128000"/>
              </a:lnSpc>
              <a:buNone/>
            </a:pPr>
            <a:r>
              <a:rPr lang="en-US" sz="1650" dirty="0">
                <a:solidFill>
                  <a:srgbClr val="222A35"/>
                </a:solidFill>
                <a:latin typeface="Malgun Gothic" pitchFamily="34" charset="0"/>
                <a:ea typeface="Malgun Gothic" pitchFamily="34" charset="-122"/>
                <a:cs typeface="Malgun Gothic" pitchFamily="34" charset="-120"/>
              </a:rPr>
              <a:t>Raspberry Pi 5 실측에서 시스템은 약 25fps의 실시간 처리율과 원거리 클립 기준 약 97%(29/30)의 검출 정확도를 달성했다. 특히 자체 영상 기반 go/no-go 검증을 통해, baseline 랜드마크 검출이 6배 다운스케일까지 무손실로 강건하며 조건부 SR이 유효한 구간이 사실상 존재하지 않고, 극단적 저해상(8배) 구간에서는 오히려 검출을 저해함을 정량적으로 규명하였다. 이는 엣지 환경에서의 검출 강건성 특성화와 '순차 SR'의 리스크 실증이라는 기여를 제공한다.</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32688"/>
          </a:xfrm>
          <a:prstGeom prst="rect">
            <a:avLst/>
          </a:prstGeom>
          <a:solidFill>
            <a:srgbClr val="1F3A6B"/>
          </a:solidFill>
          <a:ln/>
        </p:spPr>
      </p:sp>
      <p:sp>
        <p:nvSpPr>
          <p:cNvPr id="3" name="Shape 1"/>
          <p:cNvSpPr/>
          <p:nvPr/>
        </p:nvSpPr>
        <p:spPr>
          <a:xfrm>
            <a:off x="0" y="0"/>
            <a:ext cx="3840480" cy="932688"/>
          </a:xfrm>
          <a:prstGeom prst="rect">
            <a:avLst/>
          </a:prstGeom>
          <a:solidFill>
            <a:srgbClr val="13264A"/>
          </a:solidFill>
          <a:ln/>
        </p:spPr>
      </p:sp>
      <p:sp>
        <p:nvSpPr>
          <p:cNvPr id="4" name="Text 2"/>
          <p:cNvSpPr/>
          <p:nvPr/>
        </p:nvSpPr>
        <p:spPr>
          <a:xfrm>
            <a:off x="502920" y="0"/>
            <a:ext cx="8229600" cy="932688"/>
          </a:xfrm>
          <a:prstGeom prst="rect">
            <a:avLst/>
          </a:prstGeom>
          <a:noFill/>
          <a:ln/>
        </p:spPr>
        <p:txBody>
          <a:bodyPr wrap="square" rtlCol="0" anchor="ctr"/>
          <a:lstStyle/>
          <a:p>
            <a:pPr algn="l" indent="0" marL="0">
              <a:buNone/>
            </a:pPr>
            <a:r>
              <a:rPr lang="en-US" sz="3000" b="1" dirty="0">
                <a:solidFill>
                  <a:srgbClr val="FFFFFF"/>
                </a:solidFill>
                <a:latin typeface="Malgun Gothic" pitchFamily="34" charset="0"/>
                <a:ea typeface="Malgun Gothic" pitchFamily="34" charset="-122"/>
                <a:cs typeface="Malgun Gothic" pitchFamily="34" charset="-120"/>
              </a:rPr>
              <a:t>연구 방법</a:t>
            </a:r>
            <a:endParaRPr lang="en-US" sz="3000" dirty="0"/>
          </a:p>
        </p:txBody>
      </p:sp>
      <p:sp>
        <p:nvSpPr>
          <p:cNvPr id="5" name="Shape 3"/>
          <p:cNvSpPr/>
          <p:nvPr/>
        </p:nvSpPr>
        <p:spPr>
          <a:xfrm>
            <a:off x="11018520" y="6144768"/>
            <a:ext cx="868680" cy="502920"/>
          </a:xfrm>
          <a:prstGeom prst="rect">
            <a:avLst/>
          </a:prstGeom>
          <a:solidFill>
            <a:srgbClr val="1F3A6B"/>
          </a:solidFill>
          <a:ln/>
        </p:spPr>
      </p:sp>
      <p:sp>
        <p:nvSpPr>
          <p:cNvPr id="6" name="Text 4"/>
          <p:cNvSpPr/>
          <p:nvPr/>
        </p:nvSpPr>
        <p:spPr>
          <a:xfrm>
            <a:off x="11018520" y="6144768"/>
            <a:ext cx="868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SCH</a:t>
            </a:r>
            <a:endParaRPr lang="en-US" sz="1600" dirty="0"/>
          </a:p>
        </p:txBody>
      </p:sp>
      <p:sp>
        <p:nvSpPr>
          <p:cNvPr id="7" name="Shape 5"/>
          <p:cNvSpPr/>
          <p:nvPr/>
        </p:nvSpPr>
        <p:spPr>
          <a:xfrm>
            <a:off x="640080" y="1234440"/>
            <a:ext cx="2487168" cy="658368"/>
          </a:xfrm>
          <a:prstGeom prst="roundRect">
            <a:avLst>
              <a:gd name="adj" fmla="val 11111"/>
            </a:avLst>
          </a:prstGeom>
          <a:solidFill>
            <a:srgbClr val="EEF2F8"/>
          </a:solidFill>
          <a:ln w="12700">
            <a:solidFill>
              <a:srgbClr val="1F3A6B"/>
            </a:solidFill>
            <a:prstDash val="solid"/>
          </a:ln>
        </p:spPr>
      </p:sp>
      <p:sp>
        <p:nvSpPr>
          <p:cNvPr id="8" name="Text 6"/>
          <p:cNvSpPr/>
          <p:nvPr/>
        </p:nvSpPr>
        <p:spPr>
          <a:xfrm>
            <a:off x="640080" y="1234440"/>
            <a:ext cx="2487168" cy="658368"/>
          </a:xfrm>
          <a:prstGeom prst="rect">
            <a:avLst/>
          </a:prstGeom>
          <a:noFill/>
          <a:ln/>
        </p:spPr>
        <p:txBody>
          <a:bodyPr wrap="square" lIns="25400" tIns="25400" rIns="25400" bIns="25400" rtlCol="0" anchor="ctr"/>
          <a:lstStyle/>
          <a:p>
            <a:pPr algn="ctr" indent="0" marL="0">
              <a:buNone/>
            </a:pPr>
            <a:r>
              <a:rPr lang="en-US" sz="1250" b="1" dirty="0">
                <a:solidFill>
                  <a:srgbClr val="1F3A6B"/>
                </a:solidFill>
                <a:latin typeface="Malgun Gothic" pitchFamily="34" charset="0"/>
                <a:ea typeface="Malgun Gothic" pitchFamily="34" charset="-122"/>
                <a:cs typeface="Malgun Gothic" pitchFamily="34" charset="-120"/>
              </a:rPr>
              <a:t>MediaPipe 랜드마크</a:t>
            </a:r>
            <a:endParaRPr lang="en-US" sz="1250" dirty="0"/>
          </a:p>
        </p:txBody>
      </p:sp>
      <p:sp>
        <p:nvSpPr>
          <p:cNvPr id="9" name="Text 7"/>
          <p:cNvSpPr/>
          <p:nvPr/>
        </p:nvSpPr>
        <p:spPr>
          <a:xfrm>
            <a:off x="3127248" y="1234440"/>
            <a:ext cx="320040" cy="658368"/>
          </a:xfrm>
          <a:prstGeom prst="rect">
            <a:avLst/>
          </a:prstGeom>
          <a:noFill/>
          <a:ln/>
        </p:spPr>
        <p:txBody>
          <a:bodyPr wrap="square" lIns="0" tIns="0" rIns="0" bIns="0" rtlCol="0" anchor="ctr"/>
          <a:lstStyle/>
          <a:p>
            <a:pPr algn="ctr" indent="0" marL="0">
              <a:buNone/>
            </a:pPr>
            <a:r>
              <a:rPr lang="en-US" sz="1100" dirty="0">
                <a:solidFill>
                  <a:srgbClr val="1F3A6B"/>
                </a:solidFill>
                <a:latin typeface="Arial" pitchFamily="34" charset="0"/>
                <a:ea typeface="Arial" pitchFamily="34" charset="-122"/>
                <a:cs typeface="Arial" pitchFamily="34" charset="-120"/>
              </a:rPr>
              <a:t>▶</a:t>
            </a:r>
            <a:endParaRPr lang="en-US" sz="1100" dirty="0"/>
          </a:p>
        </p:txBody>
      </p:sp>
      <p:sp>
        <p:nvSpPr>
          <p:cNvPr id="10" name="Shape 8"/>
          <p:cNvSpPr/>
          <p:nvPr/>
        </p:nvSpPr>
        <p:spPr>
          <a:xfrm>
            <a:off x="3447288" y="1234440"/>
            <a:ext cx="2487168" cy="658368"/>
          </a:xfrm>
          <a:prstGeom prst="roundRect">
            <a:avLst>
              <a:gd name="adj" fmla="val 11111"/>
            </a:avLst>
          </a:prstGeom>
          <a:solidFill>
            <a:srgbClr val="EEF2F8"/>
          </a:solidFill>
          <a:ln w="12700">
            <a:solidFill>
              <a:srgbClr val="1F3A6B"/>
            </a:solidFill>
            <a:prstDash val="solid"/>
          </a:ln>
        </p:spPr>
      </p:sp>
      <p:sp>
        <p:nvSpPr>
          <p:cNvPr id="11" name="Text 9"/>
          <p:cNvSpPr/>
          <p:nvPr/>
        </p:nvSpPr>
        <p:spPr>
          <a:xfrm>
            <a:off x="3447288" y="1234440"/>
            <a:ext cx="2487168" cy="658368"/>
          </a:xfrm>
          <a:prstGeom prst="rect">
            <a:avLst/>
          </a:prstGeom>
          <a:noFill/>
          <a:ln/>
        </p:spPr>
        <p:txBody>
          <a:bodyPr wrap="square" lIns="25400" tIns="25400" rIns="25400" bIns="25400" rtlCol="0" anchor="ctr"/>
          <a:lstStyle/>
          <a:p>
            <a:pPr algn="ctr" indent="0" marL="0">
              <a:buNone/>
            </a:pPr>
            <a:r>
              <a:rPr lang="en-US" sz="1250" b="1" dirty="0">
                <a:solidFill>
                  <a:srgbClr val="1F3A6B"/>
                </a:solidFill>
                <a:latin typeface="Malgun Gothic" pitchFamily="34" charset="0"/>
                <a:ea typeface="Malgun Gothic" pitchFamily="34" charset="-122"/>
                <a:cs typeface="Malgun Gothic" pitchFamily="34" charset="-120"/>
              </a:rPr>
              <a:t>EAR 산출</a:t>
            </a:r>
            <a:endParaRPr lang="en-US" sz="1250" dirty="0"/>
          </a:p>
        </p:txBody>
      </p:sp>
      <p:sp>
        <p:nvSpPr>
          <p:cNvPr id="12" name="Text 10"/>
          <p:cNvSpPr/>
          <p:nvPr/>
        </p:nvSpPr>
        <p:spPr>
          <a:xfrm>
            <a:off x="5934456" y="1234440"/>
            <a:ext cx="320040" cy="658368"/>
          </a:xfrm>
          <a:prstGeom prst="rect">
            <a:avLst/>
          </a:prstGeom>
          <a:noFill/>
          <a:ln/>
        </p:spPr>
        <p:txBody>
          <a:bodyPr wrap="square" lIns="0" tIns="0" rIns="0" bIns="0" rtlCol="0" anchor="ctr"/>
          <a:lstStyle/>
          <a:p>
            <a:pPr algn="ctr" indent="0" marL="0">
              <a:buNone/>
            </a:pPr>
            <a:r>
              <a:rPr lang="en-US" sz="1100" dirty="0">
                <a:solidFill>
                  <a:srgbClr val="1F3A6B"/>
                </a:solidFill>
                <a:latin typeface="Arial" pitchFamily="34" charset="0"/>
                <a:ea typeface="Arial" pitchFamily="34" charset="-122"/>
                <a:cs typeface="Arial" pitchFamily="34" charset="-120"/>
              </a:rPr>
              <a:t>▶</a:t>
            </a:r>
            <a:endParaRPr lang="en-US" sz="1100" dirty="0"/>
          </a:p>
        </p:txBody>
      </p:sp>
      <p:sp>
        <p:nvSpPr>
          <p:cNvPr id="13" name="Shape 11"/>
          <p:cNvSpPr/>
          <p:nvPr/>
        </p:nvSpPr>
        <p:spPr>
          <a:xfrm>
            <a:off x="6254496" y="1234440"/>
            <a:ext cx="2487168" cy="658368"/>
          </a:xfrm>
          <a:prstGeom prst="roundRect">
            <a:avLst>
              <a:gd name="adj" fmla="val 11111"/>
            </a:avLst>
          </a:prstGeom>
          <a:solidFill>
            <a:srgbClr val="1F3A6B"/>
          </a:solidFill>
          <a:ln w="12700">
            <a:solidFill>
              <a:srgbClr val="1F3A6B"/>
            </a:solidFill>
            <a:prstDash val="solid"/>
          </a:ln>
        </p:spPr>
      </p:sp>
      <p:sp>
        <p:nvSpPr>
          <p:cNvPr id="14" name="Text 12"/>
          <p:cNvSpPr/>
          <p:nvPr/>
        </p:nvSpPr>
        <p:spPr>
          <a:xfrm>
            <a:off x="6254496" y="1234440"/>
            <a:ext cx="2487168" cy="658368"/>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조건부 경량 SR 게이트</a:t>
            </a:r>
            <a:endParaRPr lang="en-US" sz="1250" dirty="0"/>
          </a:p>
        </p:txBody>
      </p:sp>
      <p:sp>
        <p:nvSpPr>
          <p:cNvPr id="15" name="Text 13"/>
          <p:cNvSpPr/>
          <p:nvPr/>
        </p:nvSpPr>
        <p:spPr>
          <a:xfrm>
            <a:off x="8741664" y="1234440"/>
            <a:ext cx="320040" cy="658368"/>
          </a:xfrm>
          <a:prstGeom prst="rect">
            <a:avLst/>
          </a:prstGeom>
          <a:noFill/>
          <a:ln/>
        </p:spPr>
        <p:txBody>
          <a:bodyPr wrap="square" lIns="0" tIns="0" rIns="0" bIns="0" rtlCol="0" anchor="ctr"/>
          <a:lstStyle/>
          <a:p>
            <a:pPr algn="ctr" indent="0" marL="0">
              <a:buNone/>
            </a:pPr>
            <a:r>
              <a:rPr lang="en-US" sz="1100" dirty="0">
                <a:solidFill>
                  <a:srgbClr val="1F3A6B"/>
                </a:solidFill>
                <a:latin typeface="Arial" pitchFamily="34" charset="0"/>
                <a:ea typeface="Arial" pitchFamily="34" charset="-122"/>
                <a:cs typeface="Arial" pitchFamily="34" charset="-120"/>
              </a:rPr>
              <a:t>▶</a:t>
            </a:r>
            <a:endParaRPr lang="en-US" sz="1100" dirty="0"/>
          </a:p>
        </p:txBody>
      </p:sp>
      <p:sp>
        <p:nvSpPr>
          <p:cNvPr id="16" name="Shape 14"/>
          <p:cNvSpPr/>
          <p:nvPr/>
        </p:nvSpPr>
        <p:spPr>
          <a:xfrm>
            <a:off x="9061704" y="1234440"/>
            <a:ext cx="2487168" cy="658368"/>
          </a:xfrm>
          <a:prstGeom prst="roundRect">
            <a:avLst>
              <a:gd name="adj" fmla="val 11111"/>
            </a:avLst>
          </a:prstGeom>
          <a:solidFill>
            <a:srgbClr val="EEF2F8"/>
          </a:solidFill>
          <a:ln w="12700">
            <a:solidFill>
              <a:srgbClr val="1F3A6B"/>
            </a:solidFill>
            <a:prstDash val="solid"/>
          </a:ln>
        </p:spPr>
      </p:sp>
      <p:sp>
        <p:nvSpPr>
          <p:cNvPr id="17" name="Text 15"/>
          <p:cNvSpPr/>
          <p:nvPr/>
        </p:nvSpPr>
        <p:spPr>
          <a:xfrm>
            <a:off x="9061704" y="1234440"/>
            <a:ext cx="2487168" cy="658368"/>
          </a:xfrm>
          <a:prstGeom prst="rect">
            <a:avLst/>
          </a:prstGeom>
          <a:noFill/>
          <a:ln/>
        </p:spPr>
        <p:txBody>
          <a:bodyPr wrap="square" lIns="25400" tIns="25400" rIns="25400" bIns="25400" rtlCol="0" anchor="ctr"/>
          <a:lstStyle/>
          <a:p>
            <a:pPr algn="ctr" indent="0" marL="0">
              <a:buNone/>
            </a:pPr>
            <a:r>
              <a:rPr lang="en-US" sz="1250" b="1" dirty="0">
                <a:solidFill>
                  <a:srgbClr val="1F3A6B"/>
                </a:solidFill>
                <a:latin typeface="Malgun Gothic" pitchFamily="34" charset="0"/>
                <a:ea typeface="Malgun Gothic" pitchFamily="34" charset="-122"/>
                <a:cs typeface="Malgun Gothic" pitchFamily="34" charset="-120"/>
              </a:rPr>
              <a:t>STD 4단계 상태머신</a:t>
            </a:r>
            <a:endParaRPr lang="en-US" sz="1250" dirty="0"/>
          </a:p>
        </p:txBody>
      </p:sp>
      <p:sp>
        <p:nvSpPr>
          <p:cNvPr id="18" name="Shape 16"/>
          <p:cNvSpPr/>
          <p:nvPr/>
        </p:nvSpPr>
        <p:spPr>
          <a:xfrm>
            <a:off x="640080" y="2286000"/>
            <a:ext cx="566928" cy="566928"/>
          </a:xfrm>
          <a:prstGeom prst="oval">
            <a:avLst/>
          </a:prstGeom>
          <a:solidFill>
            <a:srgbClr val="1F3A6B"/>
          </a:solidFill>
          <a:ln/>
        </p:spPr>
      </p:sp>
      <p:sp>
        <p:nvSpPr>
          <p:cNvPr id="19" name="Text 17"/>
          <p:cNvSpPr/>
          <p:nvPr/>
        </p:nvSpPr>
        <p:spPr>
          <a:xfrm>
            <a:off x="640080" y="2286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20" name="Text 18"/>
          <p:cNvSpPr/>
          <p:nvPr/>
        </p:nvSpPr>
        <p:spPr>
          <a:xfrm>
            <a:off x="1371600" y="2212848"/>
            <a:ext cx="10149840" cy="365760"/>
          </a:xfrm>
          <a:prstGeom prst="rect">
            <a:avLst/>
          </a:prstGeom>
          <a:noFill/>
          <a:ln/>
        </p:spPr>
        <p:txBody>
          <a:bodyPr wrap="square" lIns="0" tIns="0" rIns="0" bIns="0" rtlCol="0" anchor="ctr"/>
          <a:lstStyle/>
          <a:p>
            <a:pPr algn="l" indent="0" marL="0">
              <a:buNone/>
            </a:pPr>
            <a:r>
              <a:rPr lang="en-US" sz="1550" b="1" dirty="0">
                <a:solidFill>
                  <a:srgbClr val="1F3A6B"/>
                </a:solidFill>
                <a:latin typeface="Malgun Gothic" pitchFamily="34" charset="0"/>
                <a:ea typeface="Malgun Gothic" pitchFamily="34" charset="-122"/>
                <a:cs typeface="Malgun Gothic" pitchFamily="34" charset="-120"/>
              </a:rPr>
              <a:t>피험자별 EAR 캘리브레이션 · STD 상태머신</a:t>
            </a:r>
            <a:endParaRPr lang="en-US" sz="1550" dirty="0"/>
          </a:p>
        </p:txBody>
      </p:sp>
      <p:sp>
        <p:nvSpPr>
          <p:cNvPr id="21" name="Text 19"/>
          <p:cNvSpPr/>
          <p:nvPr/>
        </p:nvSpPr>
        <p:spPr>
          <a:xfrm>
            <a:off x="1371600" y="2560320"/>
            <a:ext cx="10149840" cy="658368"/>
          </a:xfrm>
          <a:prstGeom prst="rect">
            <a:avLst/>
          </a:prstGeom>
          <a:noFill/>
          <a:ln/>
        </p:spPr>
        <p:txBody>
          <a:bodyPr wrap="square" lIns="0" tIns="0" rIns="0" bIns="0" rtlCol="0" anchor="t"/>
          <a:lstStyle/>
          <a:p>
            <a:pPr algn="l" indent="0" marL="0">
              <a:lnSpc>
                <a:spcPct val="116000"/>
              </a:lnSpc>
              <a:buNone/>
            </a:pPr>
            <a:r>
              <a:rPr lang="en-US" sz="1250" dirty="0">
                <a:solidFill>
                  <a:srgbClr val="5A6472"/>
                </a:solidFill>
                <a:latin typeface="Malgun Gothic" pitchFamily="34" charset="0"/>
                <a:ea typeface="Malgun Gothic" pitchFamily="34" charset="-122"/>
                <a:cs typeface="Malgun Gothic" pitchFamily="34" charset="-120"/>
              </a:rPr>
              <a:t>구동 직전 개안·폐안 EAR 통계로 개인 맞춤 임계값(θ_open, θ_close)과 히스테리시스 밴드를 산출해 STD 4단계 판정에 주입. 최초 1회 통계 처리로 끝나 런타임 추가 연산은 거의 0.</a:t>
            </a:r>
            <a:endParaRPr lang="en-US" sz="1250" dirty="0"/>
          </a:p>
        </p:txBody>
      </p:sp>
      <p:sp>
        <p:nvSpPr>
          <p:cNvPr id="22" name="Shape 20"/>
          <p:cNvSpPr/>
          <p:nvPr/>
        </p:nvSpPr>
        <p:spPr>
          <a:xfrm>
            <a:off x="640080" y="3419856"/>
            <a:ext cx="566928" cy="566928"/>
          </a:xfrm>
          <a:prstGeom prst="oval">
            <a:avLst/>
          </a:prstGeom>
          <a:solidFill>
            <a:srgbClr val="1F3A6B"/>
          </a:solidFill>
          <a:ln/>
        </p:spPr>
      </p:sp>
      <p:sp>
        <p:nvSpPr>
          <p:cNvPr id="23" name="Text 21"/>
          <p:cNvSpPr/>
          <p:nvPr/>
        </p:nvSpPr>
        <p:spPr>
          <a:xfrm>
            <a:off x="640080" y="341985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2"/>
          <p:cNvSpPr/>
          <p:nvPr/>
        </p:nvSpPr>
        <p:spPr>
          <a:xfrm>
            <a:off x="1371600" y="3346704"/>
            <a:ext cx="10149840" cy="365760"/>
          </a:xfrm>
          <a:prstGeom prst="rect">
            <a:avLst/>
          </a:prstGeom>
          <a:noFill/>
          <a:ln/>
        </p:spPr>
        <p:txBody>
          <a:bodyPr wrap="square" lIns="0" tIns="0" rIns="0" bIns="0" rtlCol="0" anchor="ctr"/>
          <a:lstStyle/>
          <a:p>
            <a:pPr algn="l" indent="0" marL="0">
              <a:buNone/>
            </a:pPr>
            <a:r>
              <a:rPr lang="en-US" sz="1550" b="1" dirty="0">
                <a:solidFill>
                  <a:srgbClr val="1F3A6B"/>
                </a:solidFill>
                <a:latin typeface="Malgun Gothic" pitchFamily="34" charset="0"/>
                <a:ea typeface="Malgun Gothic" pitchFamily="34" charset="-122"/>
                <a:cs typeface="Malgun Gothic" pitchFamily="34" charset="-120"/>
              </a:rPr>
              <a:t>눈 픽셀 품질 기반 조건부 경량 SR 게이트</a:t>
            </a:r>
            <a:endParaRPr lang="en-US" sz="1550" dirty="0"/>
          </a:p>
        </p:txBody>
      </p:sp>
      <p:sp>
        <p:nvSpPr>
          <p:cNvPr id="25" name="Text 23"/>
          <p:cNvSpPr/>
          <p:nvPr/>
        </p:nvSpPr>
        <p:spPr>
          <a:xfrm>
            <a:off x="1371600" y="3694176"/>
            <a:ext cx="10149840" cy="658368"/>
          </a:xfrm>
          <a:prstGeom prst="rect">
            <a:avLst/>
          </a:prstGeom>
          <a:noFill/>
          <a:ln/>
        </p:spPr>
        <p:txBody>
          <a:bodyPr wrap="square" lIns="0" tIns="0" rIns="0" bIns="0" rtlCol="0" anchor="t"/>
          <a:lstStyle/>
          <a:p>
            <a:pPr algn="l" indent="0" marL="0">
              <a:lnSpc>
                <a:spcPct val="116000"/>
              </a:lnSpc>
              <a:buNone/>
            </a:pPr>
            <a:r>
              <a:rPr lang="en-US" sz="1250" dirty="0">
                <a:solidFill>
                  <a:srgbClr val="5A6472"/>
                </a:solidFill>
                <a:latin typeface="Malgun Gothic" pitchFamily="34" charset="0"/>
                <a:ea typeface="Malgun Gothic" pitchFamily="34" charset="-122"/>
                <a:cs typeface="Malgun Gothic" pitchFamily="34" charset="-120"/>
              </a:rPr>
              <a:t>눈 가로 픽셀 폭(w_eye)이 임계(≈24px) 이하일 때만 얼굴 crop에 경량 SR(FSRCNN-small ×2)을 구동하는 two-pass 구조. EAR은 스케일 불변이라 역매핑 불필요.</a:t>
            </a:r>
            <a:endParaRPr lang="en-US" sz="1250" dirty="0"/>
          </a:p>
        </p:txBody>
      </p:sp>
      <p:sp>
        <p:nvSpPr>
          <p:cNvPr id="26" name="Shape 24"/>
          <p:cNvSpPr/>
          <p:nvPr/>
        </p:nvSpPr>
        <p:spPr>
          <a:xfrm>
            <a:off x="640080" y="4553712"/>
            <a:ext cx="566928" cy="566928"/>
          </a:xfrm>
          <a:prstGeom prst="oval">
            <a:avLst/>
          </a:prstGeom>
          <a:solidFill>
            <a:srgbClr val="1F3A6B"/>
          </a:solidFill>
          <a:ln/>
        </p:spPr>
      </p:sp>
      <p:sp>
        <p:nvSpPr>
          <p:cNvPr id="27" name="Text 25"/>
          <p:cNvSpPr/>
          <p:nvPr/>
        </p:nvSpPr>
        <p:spPr>
          <a:xfrm>
            <a:off x="640080" y="45537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8" name="Text 26"/>
          <p:cNvSpPr/>
          <p:nvPr/>
        </p:nvSpPr>
        <p:spPr>
          <a:xfrm>
            <a:off x="1371600" y="4480560"/>
            <a:ext cx="10149840" cy="365760"/>
          </a:xfrm>
          <a:prstGeom prst="rect">
            <a:avLst/>
          </a:prstGeom>
          <a:noFill/>
          <a:ln/>
        </p:spPr>
        <p:txBody>
          <a:bodyPr wrap="square" lIns="0" tIns="0" rIns="0" bIns="0" rtlCol="0" anchor="ctr"/>
          <a:lstStyle/>
          <a:p>
            <a:pPr algn="l" indent="0" marL="0">
              <a:buNone/>
            </a:pPr>
            <a:r>
              <a:rPr lang="en-US" sz="1550" b="1" dirty="0">
                <a:solidFill>
                  <a:srgbClr val="1F3A6B"/>
                </a:solidFill>
                <a:latin typeface="Malgun Gothic" pitchFamily="34" charset="0"/>
                <a:ea typeface="Malgun Gothic" pitchFamily="34" charset="-122"/>
                <a:cs typeface="Malgun Gothic" pitchFamily="34" charset="-120"/>
              </a:rPr>
              <a:t>저비용 하드웨어 기반 엣지 실측 검증</a:t>
            </a:r>
            <a:endParaRPr lang="en-US" sz="1550" dirty="0"/>
          </a:p>
        </p:txBody>
      </p:sp>
      <p:sp>
        <p:nvSpPr>
          <p:cNvPr id="29" name="Text 27"/>
          <p:cNvSpPr/>
          <p:nvPr/>
        </p:nvSpPr>
        <p:spPr>
          <a:xfrm>
            <a:off x="1371600" y="4828032"/>
            <a:ext cx="10149840" cy="658368"/>
          </a:xfrm>
          <a:prstGeom prst="rect">
            <a:avLst/>
          </a:prstGeom>
          <a:noFill/>
          <a:ln/>
        </p:spPr>
        <p:txBody>
          <a:bodyPr wrap="square" lIns="0" tIns="0" rIns="0" bIns="0" rtlCol="0" anchor="t"/>
          <a:lstStyle/>
          <a:p>
            <a:pPr algn="l" indent="0" marL="0">
              <a:lnSpc>
                <a:spcPct val="116000"/>
              </a:lnSpc>
              <a:buNone/>
            </a:pPr>
            <a:r>
              <a:rPr lang="en-US" sz="1250" dirty="0">
                <a:solidFill>
                  <a:srgbClr val="5A6472"/>
                </a:solidFill>
                <a:latin typeface="Malgun Gothic" pitchFamily="34" charset="0"/>
                <a:ea typeface="Malgun Gothic" pitchFamily="34" charset="-122"/>
                <a:cs typeface="Malgun Gothic" pitchFamily="34" charset="-120"/>
              </a:rPr>
              <a:t>일반 RGB 웹캠 + Pi 5만으로 FPS·지연·SR 비용을 on-device 실측. 자체 영상을 단계적으로 열화시켜 SR on/off를 비교하는 go/no-go 하니스로 실효성을 정량 검증.</a:t>
            </a:r>
            <a:endParaRPr lang="en-US" sz="1250" dirty="0"/>
          </a:p>
        </p:txBody>
      </p:sp>
      <p:sp>
        <p:nvSpPr>
          <p:cNvPr id="30" name="Shape 28"/>
          <p:cNvSpPr/>
          <p:nvPr/>
        </p:nvSpPr>
        <p:spPr>
          <a:xfrm>
            <a:off x="640080" y="5687568"/>
            <a:ext cx="10195560" cy="896112"/>
          </a:xfrm>
          <a:prstGeom prst="roundRect">
            <a:avLst>
              <a:gd name="adj" fmla="val 6122"/>
            </a:avLst>
          </a:prstGeom>
          <a:solidFill>
            <a:srgbClr val="EEF2F8"/>
          </a:solidFill>
          <a:ln w="12700">
            <a:solidFill>
              <a:srgbClr val="1F3A6B"/>
            </a:solidFill>
            <a:prstDash val="solid"/>
          </a:ln>
        </p:spPr>
      </p:sp>
      <p:sp>
        <p:nvSpPr>
          <p:cNvPr id="31" name="Text 29"/>
          <p:cNvSpPr/>
          <p:nvPr/>
        </p:nvSpPr>
        <p:spPr>
          <a:xfrm>
            <a:off x="868680" y="5687568"/>
            <a:ext cx="9784080" cy="896112"/>
          </a:xfrm>
          <a:prstGeom prst="rect">
            <a:avLst/>
          </a:prstGeom>
          <a:noFill/>
          <a:ln/>
        </p:spPr>
        <p:txBody>
          <a:bodyPr wrap="square" lIns="0" tIns="0" rIns="0" bIns="0" rtlCol="0" anchor="ctr"/>
          <a:lstStyle/>
          <a:p>
            <a:pPr algn="l" indent="0" marL="0">
              <a:lnSpc>
                <a:spcPct val="115000"/>
              </a:lnSpc>
              <a:buNone/>
            </a:pPr>
            <a:r>
              <a:rPr lang="en-US" sz="1300" b="1" dirty="0">
                <a:solidFill>
                  <a:srgbClr val="1F3A6B"/>
                </a:solidFill>
                <a:latin typeface="Malgun Gothic" pitchFamily="34" charset="0"/>
                <a:ea typeface="Malgun Gothic" pitchFamily="34" charset="-122"/>
                <a:cs typeface="Malgun Gothic" pitchFamily="34" charset="-120"/>
              </a:rPr>
              <a:t>주요 실측 결과   </a:t>
            </a:r>
            <a:pPr algn="l" indent="0" marL="0">
              <a:lnSpc>
                <a:spcPct val="115000"/>
              </a:lnSpc>
              <a:buNone/>
            </a:pPr>
            <a:r>
              <a:rPr lang="en-US" sz="1250" dirty="0">
                <a:solidFill>
                  <a:srgbClr val="222A35"/>
                </a:solidFill>
                <a:latin typeface="Malgun Gothic" pitchFamily="34" charset="0"/>
                <a:ea typeface="Malgun Gothic" pitchFamily="34" charset="-122"/>
                <a:cs typeface="Malgun Gothic" pitchFamily="34" charset="-120"/>
              </a:rPr>
              <a:t>FaceLandmarker ~25ms/frame(~25fps) · 원거리 정확도 29/30 · SR 강제 구동 시 two-pass ~10fps로 하락 · go/no-go: baseline 6× 무손실, 8× 극단 구간에서 SR 적용 시 27→25 악화 → </a:t>
            </a:r>
            <a:pPr algn="l" indent="0" marL="0">
              <a:lnSpc>
                <a:spcPct val="115000"/>
              </a:lnSpc>
              <a:buNone/>
            </a:pPr>
            <a:r>
              <a:rPr lang="en-US" sz="1250" b="1" dirty="0">
                <a:solidFill>
                  <a:srgbClr val="B23A2E"/>
                </a:solidFill>
                <a:latin typeface="Malgun Gothic" pitchFamily="34" charset="0"/>
                <a:ea typeface="Malgun Gothic" pitchFamily="34" charset="-122"/>
                <a:cs typeface="Malgun Gothic" pitchFamily="34" charset="-120"/>
              </a:rPr>
              <a:t>현재 형태 조건부 SR 미채택</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2026-07-21T07:17:27Z</dcterms:created>
  <dcterms:modified xsi:type="dcterms:W3CDTF">2026-07-21T07:17:27Z</dcterms:modified>
</cp:coreProperties>
</file>